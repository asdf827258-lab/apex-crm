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29" r:id="rId1"/>
    <p:sldMasterId id="2147484186" r:id="rId2"/>
    <p:sldMasterId id="2147484191" r:id="rId3"/>
    <p:sldMasterId id="2147484197" r:id="rId4"/>
  </p:sldMasterIdLst>
  <p:notesMasterIdLst>
    <p:notesMasterId r:id="rId37"/>
  </p:notesMasterIdLst>
  <p:handoutMasterIdLst>
    <p:handoutMasterId r:id="rId38"/>
  </p:handoutMasterIdLst>
  <p:sldIdLst>
    <p:sldId id="10926" r:id="rId5"/>
    <p:sldId id="11510" r:id="rId6"/>
    <p:sldId id="11504" r:id="rId7"/>
    <p:sldId id="11507" r:id="rId8"/>
    <p:sldId id="11523" r:id="rId9"/>
    <p:sldId id="11524" r:id="rId10"/>
    <p:sldId id="11525" r:id="rId11"/>
    <p:sldId id="11526" r:id="rId12"/>
    <p:sldId id="11527" r:id="rId13"/>
    <p:sldId id="11528" r:id="rId14"/>
    <p:sldId id="11529" r:id="rId15"/>
    <p:sldId id="11540" r:id="rId16"/>
    <p:sldId id="11530" r:id="rId17"/>
    <p:sldId id="11534" r:id="rId18"/>
    <p:sldId id="11541" r:id="rId19"/>
    <p:sldId id="11542" r:id="rId20"/>
    <p:sldId id="11535" r:id="rId21"/>
    <p:sldId id="11551" r:id="rId22"/>
    <p:sldId id="11552" r:id="rId23"/>
    <p:sldId id="11553" r:id="rId24"/>
    <p:sldId id="11550" r:id="rId25"/>
    <p:sldId id="11536" r:id="rId26"/>
    <p:sldId id="11543" r:id="rId27"/>
    <p:sldId id="11537" r:id="rId28"/>
    <p:sldId id="11538" r:id="rId29"/>
    <p:sldId id="11539" r:id="rId30"/>
    <p:sldId id="11544" r:id="rId31"/>
    <p:sldId id="11518" r:id="rId32"/>
    <p:sldId id="11545" r:id="rId33"/>
    <p:sldId id="11554" r:id="rId34"/>
    <p:sldId id="11555" r:id="rId35"/>
    <p:sldId id="11548" r:id="rId36"/>
  </p:sldIdLst>
  <p:sldSz cx="9906000" cy="6858000" type="A4"/>
  <p:notesSz cx="6797675" cy="9929813"/>
  <p:embeddedFontLst>
    <p:embeddedFont>
      <p:font typeface="여기어때 잘난체 2 TTF" pitchFamily="2" charset="-127"/>
      <p:regular r:id="rId39"/>
    </p:embeddedFont>
    <p:embeddedFont>
      <p:font typeface="HY견고딕" panose="02030600000101010101" pitchFamily="18" charset="-127"/>
      <p:regular r:id="rId40"/>
    </p:embeddedFont>
    <p:embeddedFont>
      <p:font typeface="a고딕16" panose="02020600000000000000" pitchFamily="18" charset="-127"/>
      <p:regular r:id="rId41"/>
    </p:embeddedFont>
    <p:embeddedFont>
      <p:font typeface="KoPubWorld돋움체 Medium" panose="020B0600000101010101" charset="-127"/>
      <p:regular r:id="rId42"/>
    </p:embeddedFont>
    <p:embeddedFont>
      <p:font typeface="나눔스퀘어라운드OTF ExtraBold" panose="020B0600000101010101" charset="-127"/>
      <p:bold r:id="rId43"/>
    </p:embeddedFont>
    <p:embeddedFont>
      <p:font typeface="Tahoma" panose="020B0604030504040204" pitchFamily="34" charset="0"/>
      <p:regular r:id="rId44"/>
      <p:bold r:id="rId45"/>
    </p:embeddedFont>
    <p:embeddedFont>
      <p:font typeface="G마켓 산스 TTF Bold" panose="02000000000000000000" pitchFamily="2" charset="-127"/>
      <p:bold r:id="rId46"/>
    </p:embeddedFont>
    <p:embeddedFont>
      <p:font typeface="맑은 고딕" panose="020B0503020000020004" pitchFamily="50" charset="-127"/>
      <p:regular r:id="rId47"/>
      <p:bold r:id="rId48"/>
    </p:embeddedFont>
    <p:embeddedFont>
      <p:font typeface="경기천년제목 Bold" panose="02020803020101020101" pitchFamily="18" charset="-127"/>
      <p:bold r:id="rId49"/>
    </p:embeddedFont>
    <p:embeddedFont>
      <p:font typeface="a고딕14" panose="02020600000000000000" pitchFamily="18" charset="-127"/>
      <p:regular r:id="rId50"/>
    </p:embeddedFont>
  </p:embeddedFontLst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0CEDEE0-F792-4C7C-9B78-F2DF2092E5FD}">
          <p14:sldIdLst>
            <p14:sldId id="10926"/>
            <p14:sldId id="11510"/>
            <p14:sldId id="11504"/>
            <p14:sldId id="11507"/>
            <p14:sldId id="11523"/>
            <p14:sldId id="11524"/>
            <p14:sldId id="11525"/>
            <p14:sldId id="11526"/>
            <p14:sldId id="11527"/>
            <p14:sldId id="11528"/>
            <p14:sldId id="11529"/>
            <p14:sldId id="11540"/>
            <p14:sldId id="11530"/>
            <p14:sldId id="11534"/>
            <p14:sldId id="11541"/>
            <p14:sldId id="11542"/>
            <p14:sldId id="11535"/>
            <p14:sldId id="11551"/>
            <p14:sldId id="11552"/>
            <p14:sldId id="11553"/>
            <p14:sldId id="11550"/>
            <p14:sldId id="11536"/>
            <p14:sldId id="11543"/>
            <p14:sldId id="11537"/>
            <p14:sldId id="11538"/>
            <p14:sldId id="11539"/>
            <p14:sldId id="11544"/>
            <p14:sldId id="11518"/>
            <p14:sldId id="11545"/>
            <p14:sldId id="11554"/>
            <p14:sldId id="11555"/>
            <p14:sldId id="115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2871" userDrawn="1">
          <p15:clr>
            <a:srgbClr val="A4A3A4"/>
          </p15:clr>
        </p15:guide>
        <p15:guide id="3" pos="31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조홍원" initials="조" lastIdx="5" clrIdx="0">
    <p:extLst>
      <p:ext uri="{19B8F6BF-5375-455C-9EA6-DF929625EA0E}">
        <p15:presenceInfo xmlns:p15="http://schemas.microsoft.com/office/powerpoint/2012/main" userId="조홍원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00B050"/>
    <a:srgbClr val="7F7F7F"/>
    <a:srgbClr val="F2A900"/>
    <a:srgbClr val="253B74"/>
    <a:srgbClr val="FFFFCC"/>
    <a:srgbClr val="0033A0"/>
    <a:srgbClr val="C00000"/>
    <a:srgbClr val="5B9F8F"/>
    <a:srgbClr val="FDC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75" autoAdjust="0"/>
    <p:restoredTop sz="82250" autoAdjust="0"/>
  </p:normalViewPr>
  <p:slideViewPr>
    <p:cSldViewPr snapToGrid="0" showGuides="1">
      <p:cViewPr varScale="1">
        <p:scale>
          <a:sx n="71" d="100"/>
          <a:sy n="71" d="100"/>
        </p:scale>
        <p:origin x="1786" y="43"/>
      </p:cViewPr>
      <p:guideLst>
        <p:guide orient="horz" pos="4110"/>
        <p:guide pos="2871"/>
        <p:guide pos="3165"/>
      </p:guideLst>
    </p:cSldViewPr>
  </p:slideViewPr>
  <p:outlineViewPr>
    <p:cViewPr>
      <p:scale>
        <a:sx n="33" d="100"/>
        <a:sy n="33" d="100"/>
      </p:scale>
      <p:origin x="0" y="-36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106"/>
    </p:cViewPr>
  </p:sorterViewPr>
  <p:notesViewPr>
    <p:cSldViewPr snapToGrid="0">
      <p:cViewPr varScale="1">
        <p:scale>
          <a:sx n="78" d="100"/>
          <a:sy n="78" d="100"/>
        </p:scale>
        <p:origin x="324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358E6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3B-4D0F-B300-1713187486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096495984"/>
        <c:axId val="1096494320"/>
      </c:barChart>
      <c:catAx>
        <c:axId val="10964959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96494320"/>
        <c:crosses val="autoZero"/>
        <c:auto val="1"/>
        <c:lblAlgn val="ctr"/>
        <c:lblOffset val="100"/>
        <c:noMultiLvlLbl val="0"/>
      </c:catAx>
      <c:valAx>
        <c:axId val="10964943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96495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12700"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E7AC6-74B0-4AE6-8227-9B2E49E34DCB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313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56874-F4C1-499F-9273-3F743C955C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207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9DC8-84F9-442E-B221-D48C5A312170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8723"/>
            <a:ext cx="5438140" cy="390986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160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160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82E962-A53A-44A8-94E3-5D5ECC638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9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91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066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err="1" smtClean="0"/>
              <a:t>에이플꺼는</a:t>
            </a:r>
            <a:r>
              <a:rPr lang="ko-KR" altLang="en-US" baseline="0" dirty="0" smtClean="0"/>
              <a:t> 날짜 기입 해야 그 날짜로 </a:t>
            </a:r>
            <a:r>
              <a:rPr lang="ko-KR" altLang="en-US" baseline="0" dirty="0" err="1" smtClean="0"/>
              <a:t>스캔인식</a:t>
            </a:r>
            <a:r>
              <a:rPr lang="ko-KR" altLang="en-US" baseline="0" dirty="0" smtClean="0"/>
              <a:t> 가능</a:t>
            </a:r>
            <a:endParaRPr lang="en-US" altLang="ko-KR" baseline="0" dirty="0" smtClean="0"/>
          </a:p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err="1" smtClean="0"/>
              <a:t>원수사</a:t>
            </a:r>
            <a:r>
              <a:rPr lang="ko-KR" altLang="en-US" baseline="0" dirty="0" smtClean="0"/>
              <a:t> 청약은 </a:t>
            </a:r>
            <a:r>
              <a:rPr lang="ko-KR" altLang="en-US" baseline="0" dirty="0" err="1" smtClean="0"/>
              <a:t>종이청약</a:t>
            </a:r>
            <a:r>
              <a:rPr lang="ko-KR" altLang="en-US" baseline="0" dirty="0" smtClean="0"/>
              <a:t> 받으면 사업단 </a:t>
            </a:r>
            <a:r>
              <a:rPr lang="ko-KR" altLang="en-US" baseline="0" dirty="0" err="1" smtClean="0"/>
              <a:t>프로님이</a:t>
            </a:r>
            <a:r>
              <a:rPr lang="ko-KR" altLang="en-US" baseline="0" dirty="0" smtClean="0"/>
              <a:t> 보완 확인 및 </a:t>
            </a:r>
            <a:r>
              <a:rPr lang="ko-KR" altLang="en-US" baseline="0" dirty="0" err="1" smtClean="0"/>
              <a:t>원수사</a:t>
            </a:r>
            <a:r>
              <a:rPr lang="ko-KR" altLang="en-US" baseline="0" dirty="0" smtClean="0"/>
              <a:t> 전송 시간 차이로 인해</a:t>
            </a:r>
            <a:endParaRPr lang="en-US" altLang="ko-KR" baseline="0" dirty="0" smtClean="0"/>
          </a:p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aseline="0" dirty="0" smtClean="0"/>
              <a:t>날짜 </a:t>
            </a:r>
            <a:r>
              <a:rPr lang="ko-KR" altLang="en-US" baseline="0" dirty="0" err="1" smtClean="0"/>
              <a:t>미기입</a:t>
            </a: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595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0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810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059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643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930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43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407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341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566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149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1409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355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654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7488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237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3653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365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5211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97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2682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7173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553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857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8579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9907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2417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9688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29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82E962-A53A-44A8-94E3-5D5ECC638C6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9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hart" Target="../charts/chart1.xml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70">
            <a:extLst>
              <a:ext uri="{FF2B5EF4-FFF2-40B4-BE49-F238E27FC236}">
                <a16:creationId xmlns:a16="http://schemas.microsoft.com/office/drawing/2014/main" id="{1F3B4617-912C-9F78-F863-661513A9FD8A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948047255"/>
              </p:ext>
            </p:extLst>
          </p:nvPr>
        </p:nvGraphicFramePr>
        <p:xfrm>
          <a:off x="-1364468" y="36052"/>
          <a:ext cx="1296000" cy="71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306334803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95370617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7912326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4124039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73082195"/>
                    </a:ext>
                  </a:extLst>
                </a:gridCol>
              </a:tblGrid>
              <a:tr h="108000">
                <a:tc gridSpan="5"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1733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제휴사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 색상표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71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423642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A+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에셋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2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207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7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513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ABL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1284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AIA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162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400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BNP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파리바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977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7158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DB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316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DGB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C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7365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IBK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연금보험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9805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KB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F1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6C6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8706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KDB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B7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775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NH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농협생명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0C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9668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교보생명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84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169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동양생명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2498D5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87315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라이나생명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AF3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18223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메트라이프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E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1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62008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미래에셋생명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1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68676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삼성생명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045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신한라이프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5D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A3D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281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처브라이프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3548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푸르덴셜생명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69798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푸본현대생명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E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F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8263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하나생명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7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219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한화생명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548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흥국생명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B6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163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7454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본문 색상표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24453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일반글씨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6134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강조글씨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823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0663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강조도형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9158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표굵기 </a:t>
                      </a:r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0.25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834308"/>
                  </a:ext>
                </a:extLst>
              </a:tr>
              <a:tr h="108000">
                <a:tc gridSpan="5"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788079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 userDrawn="1"/>
        </p:nvGrpSpPr>
        <p:grpSpPr>
          <a:xfrm>
            <a:off x="3002836" y="6215808"/>
            <a:ext cx="3900329" cy="483313"/>
            <a:chOff x="3958881" y="6215808"/>
            <a:chExt cx="3900329" cy="48331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61033E0-8869-4CC5-A659-ED6C258B59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8881" y="6321304"/>
              <a:ext cx="1988238" cy="222445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7306" y="6215808"/>
              <a:ext cx="1741904" cy="483313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 userDrawn="1"/>
          </p:nvSpPr>
          <p:spPr>
            <a:xfrm>
              <a:off x="5910358" y="6247860"/>
              <a:ext cx="413896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ko-KR" altLang="en-US" dirty="0">
                  <a:solidFill>
                    <a:srgbClr val="7F7F7F"/>
                  </a:solidFill>
                </a:rPr>
                <a:t>│</a:t>
              </a:r>
            </a:p>
          </p:txBody>
        </p:sp>
      </p:grpSp>
      <p:sp>
        <p:nvSpPr>
          <p:cNvPr id="15" name="직사각형 14"/>
          <p:cNvSpPr/>
          <p:nvPr userDrawn="1"/>
        </p:nvSpPr>
        <p:spPr>
          <a:xfrm>
            <a:off x="153408" y="141316"/>
            <a:ext cx="9599184" cy="5877097"/>
          </a:xfrm>
          <a:prstGeom prst="rect">
            <a:avLst/>
          </a:prstGeom>
          <a:solidFill>
            <a:srgbClr val="E4E5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1" name="차트 20"/>
          <p:cNvGraphicFramePr/>
          <p:nvPr userDrawn="1">
            <p:extLst>
              <p:ext uri="{D42A27DB-BD31-4B8C-83A1-F6EECF244321}">
                <p14:modId xmlns:p14="http://schemas.microsoft.com/office/powerpoint/2010/main" val="3726323154"/>
              </p:ext>
            </p:extLst>
          </p:nvPr>
        </p:nvGraphicFramePr>
        <p:xfrm>
          <a:off x="5577841" y="1307945"/>
          <a:ext cx="3630030" cy="3543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57199" y="3549258"/>
            <a:ext cx="585411" cy="597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" name="그림 24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8889" b="83889" l="9938" r="92547"/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84" t="24566" r="16010" b="25506"/>
          <a:stretch/>
        </p:blipFill>
        <p:spPr>
          <a:xfrm>
            <a:off x="6402145" y="3031627"/>
            <a:ext cx="621372" cy="559462"/>
          </a:xfrm>
          <a:prstGeom prst="rect">
            <a:avLst/>
          </a:prstGeom>
        </p:spPr>
      </p:pic>
      <p:sp>
        <p:nvSpPr>
          <p:cNvPr id="26" name="TextBox 25"/>
          <p:cNvSpPr txBox="1"/>
          <p:nvPr userDrawn="1"/>
        </p:nvSpPr>
        <p:spPr>
          <a:xfrm>
            <a:off x="8363817" y="1319026"/>
            <a:ext cx="761747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4000" dirty="0">
                <a:solidFill>
                  <a:srgbClr val="358E62"/>
                </a:solidFill>
              </a:rPr>
              <a:t>A</a:t>
            </a:r>
            <a:r>
              <a:rPr lang="en-US" altLang="ko-KR" sz="4000" strike="noStrike" baseline="30000" dirty="0">
                <a:solidFill>
                  <a:srgbClr val="358E62"/>
                </a:solidFill>
              </a:rPr>
              <a:t>+</a:t>
            </a:r>
            <a:endParaRPr lang="ko-KR" altLang="en-US" sz="4000" strike="noStrike" baseline="30000" dirty="0">
              <a:solidFill>
                <a:srgbClr val="358E62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0120" y="2263602"/>
            <a:ext cx="705247" cy="853915"/>
          </a:xfrm>
          <a:prstGeom prst="rect">
            <a:avLst/>
          </a:prstGeom>
        </p:spPr>
      </p:pic>
      <p:pic>
        <p:nvPicPr>
          <p:cNvPr id="28" name="Picture 5"/>
          <p:cNvPicPr>
            <a:picLocks noChangeAspect="1" noChangeArrowheads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3815" y="1895303"/>
            <a:ext cx="709397" cy="58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725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녹색 잎은 식물이 풍부한 UHD 이미지 및 배경 화면 스타일의 배경을 남깁니다. | 프리미엄 AI 생성 이미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44000" cy="34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녹색 잎은 식물이 풍부한 UHD 이미지 및 배경 화면 스타일의 배경을 남깁니다. | 프리미엄 AI 생성 이미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000" y="0"/>
            <a:ext cx="5044000" cy="34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녹색 잎은 식물이 풍부한 UHD 이미지 및 배경 화면 스타일의 배경을 남깁니다. | 프리미엄 AI 생성 이미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2000"/>
            <a:ext cx="5044000" cy="336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녹색 잎은 식물이 풍부한 UHD 이미지 및 배경 화면 스타일의 배경을 남깁니다. | 프리미엄 AI 생성 이미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000" y="3492000"/>
            <a:ext cx="5044000" cy="336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/>
          <p:cNvSpPr/>
          <p:nvPr userDrawn="1"/>
        </p:nvSpPr>
        <p:spPr>
          <a:xfrm>
            <a:off x="142875" y="133351"/>
            <a:ext cx="9639300" cy="6504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142874" y="943491"/>
            <a:ext cx="9639301" cy="61914"/>
          </a:xfrm>
          <a:prstGeom prst="rect">
            <a:avLst/>
          </a:prstGeom>
          <a:gradFill>
            <a:gsLst>
              <a:gs pos="0">
                <a:srgbClr val="061A1B"/>
              </a:gs>
              <a:gs pos="50000">
                <a:srgbClr val="21564F"/>
              </a:gs>
              <a:gs pos="100000">
                <a:srgbClr val="BDCFC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9081"/>
          <a:stretch/>
        </p:blipFill>
        <p:spPr>
          <a:xfrm>
            <a:off x="151112" y="6611650"/>
            <a:ext cx="1496852" cy="21997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450" y="218478"/>
            <a:ext cx="2566638" cy="755970"/>
          </a:xfrm>
          <a:prstGeom prst="rect">
            <a:avLst/>
          </a:prstGeom>
        </p:spPr>
      </p:pic>
      <p:graphicFrame>
        <p:nvGraphicFramePr>
          <p:cNvPr id="7" name="표 70">
            <a:extLst>
              <a:ext uri="{FF2B5EF4-FFF2-40B4-BE49-F238E27FC236}">
                <a16:creationId xmlns:a16="http://schemas.microsoft.com/office/drawing/2014/main" id="{1F3B4617-912C-9F78-F863-661513A9FD8A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828333281"/>
              </p:ext>
            </p:extLst>
          </p:nvPr>
        </p:nvGraphicFramePr>
        <p:xfrm>
          <a:off x="-1364468" y="36052"/>
          <a:ext cx="1296000" cy="71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">
                  <a:extLst>
                    <a:ext uri="{9D8B030D-6E8A-4147-A177-3AD203B41FA5}">
                      <a16:colId xmlns:a16="http://schemas.microsoft.com/office/drawing/2014/main" val="306334803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953706172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379123263"/>
                    </a:ext>
                  </a:extLst>
                </a:gridCol>
                <a:gridCol w="216000">
                  <a:extLst>
                    <a:ext uri="{9D8B030D-6E8A-4147-A177-3AD203B41FA5}">
                      <a16:colId xmlns:a16="http://schemas.microsoft.com/office/drawing/2014/main" val="412403904"/>
                    </a:ext>
                  </a:extLst>
                </a:gridCol>
                <a:gridCol w="72000">
                  <a:extLst>
                    <a:ext uri="{9D8B030D-6E8A-4147-A177-3AD203B41FA5}">
                      <a16:colId xmlns:a16="http://schemas.microsoft.com/office/drawing/2014/main" val="573082195"/>
                    </a:ext>
                  </a:extLst>
                </a:gridCol>
              </a:tblGrid>
              <a:tr h="108000">
                <a:tc gridSpan="5"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17334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제휴사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 색상표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271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423642"/>
                  </a:ext>
                </a:extLst>
              </a:tr>
              <a:tr h="216000">
                <a:tc rowSpan="2"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A+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에셋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002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8207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7B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5132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ABL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31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1284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AIA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162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400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BNP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파리바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977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7158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DB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2316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DGB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DC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73656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IBK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연금보험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A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9805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KB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F1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6C6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8706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KDB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B7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77599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NH</a:t>
                      </a:r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농협생명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70C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9668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교보생명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B84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97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169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동양생명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2498D5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9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87315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라이나생명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AF3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18223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 err="1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메트라이프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E4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91D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62008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미래에셋생명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21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98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68676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삼성생명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19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0045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신한라이프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5DC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A3D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281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처브라이프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A6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3548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푸르덴셜생명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69798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푸본현대생명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9E9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F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8263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하나생명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77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219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한화생명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548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흥국생명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1B6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163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7454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본문 색상표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424453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일반글씨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6134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강조글씨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13823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0663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강조도형</a:t>
                      </a: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9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9158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표굵기 </a:t>
                      </a:r>
                      <a:r>
                        <a:rPr lang="en-US" altLang="ko-KR" sz="800" b="1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a고딕14" panose="02020600000000000000" pitchFamily="18" charset="-127"/>
                          <a:ea typeface="a고딕14" panose="02020600000000000000" pitchFamily="18" charset="-127"/>
                        </a:rPr>
                        <a:t>0.25</a:t>
                      </a:r>
                      <a:endParaRPr lang="ko-KR" altLang="en-US" sz="8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834308"/>
                  </a:ext>
                </a:extLst>
              </a:tr>
              <a:tr h="108000">
                <a:tc gridSpan="5"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latinLnBrk="1"/>
                      <a:endParaRPr lang="ko-KR" altLang="en-US" sz="500" b="1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500" dirty="0">
                        <a:latin typeface="a고딕14" panose="02020600000000000000" pitchFamily="18" charset="-127"/>
                        <a:ea typeface="a고딕14" panose="02020600000000000000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788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37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554849" y="2250034"/>
            <a:ext cx="312035" cy="2072534"/>
          </a:xfrm>
          <a:prstGeom prst="rect">
            <a:avLst/>
          </a:prstGeom>
          <a:solidFill>
            <a:srgbClr val="32A7F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/>
          <p:cNvSpPr/>
          <p:nvPr userDrawn="1"/>
        </p:nvSpPr>
        <p:spPr>
          <a:xfrm>
            <a:off x="272481" y="2765499"/>
            <a:ext cx="67817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57150">
                <a:solidFill>
                  <a:prstClr val="white"/>
                </a:solidFill>
              </a:ln>
              <a:solidFill>
                <a:srgbClr val="79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 userDrawn="1"/>
        </p:nvSpPr>
        <p:spPr bwMode="auto">
          <a:xfrm>
            <a:off x="1437218" y="2204864"/>
            <a:ext cx="1742785" cy="40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di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A</a:t>
            </a:r>
            <a:r>
              <a:rPr kumimoji="0" lang="en-US" altLang="ko-KR" sz="10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+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 GROUP</a:t>
            </a:r>
          </a:p>
          <a:p>
            <a:pPr marL="0" marR="0" lvl="0" indent="0" algn="di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TOTAL LIFE CARE GROUP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Tahoma" pitchFamily="34" charset="0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1" y="2821310"/>
            <a:ext cx="950650" cy="24765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57150">
                <a:solidFill>
                  <a:prstClr val="white"/>
                </a:solidFill>
              </a:ln>
              <a:solidFill>
                <a:srgbClr val="79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875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25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76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84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7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554849" y="2250034"/>
            <a:ext cx="312035" cy="2072534"/>
          </a:xfrm>
          <a:prstGeom prst="rect">
            <a:avLst/>
          </a:prstGeom>
          <a:solidFill>
            <a:srgbClr val="32A7F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/>
          <p:cNvSpPr/>
          <p:nvPr userDrawn="1"/>
        </p:nvSpPr>
        <p:spPr>
          <a:xfrm>
            <a:off x="272481" y="2765499"/>
            <a:ext cx="67817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57150">
                <a:solidFill>
                  <a:prstClr val="white"/>
                </a:solidFill>
              </a:ln>
              <a:solidFill>
                <a:srgbClr val="79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 userDrawn="1"/>
        </p:nvSpPr>
        <p:spPr bwMode="auto">
          <a:xfrm>
            <a:off x="1437218" y="2204864"/>
            <a:ext cx="1742785" cy="40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di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A</a:t>
            </a:r>
            <a:r>
              <a:rPr kumimoji="0" lang="en-US" altLang="ko-KR" sz="10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+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 GROUP</a:t>
            </a:r>
          </a:p>
          <a:p>
            <a:pPr marL="0" marR="0" lvl="0" indent="0" algn="di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TOTAL LIFE CARE GROUP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Tahoma" pitchFamily="34" charset="0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1" y="2821310"/>
            <a:ext cx="950650" cy="24765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57150">
                <a:solidFill>
                  <a:prstClr val="white"/>
                </a:solidFill>
              </a:ln>
              <a:solidFill>
                <a:srgbClr val="79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16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 flipV="1">
            <a:off x="1" y="692699"/>
            <a:ext cx="9906000" cy="45719"/>
          </a:xfrm>
          <a:prstGeom prst="rect">
            <a:avLst/>
          </a:prstGeom>
          <a:gradFill flip="none" rotWithShape="1">
            <a:gsLst>
              <a:gs pos="0">
                <a:srgbClr val="0C55B6"/>
              </a:gs>
              <a:gs pos="18000">
                <a:srgbClr val="0094D5"/>
              </a:gs>
              <a:gs pos="100000">
                <a:srgbClr val="00C7B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oPubWorld돋움체 Medium" pitchFamily="2" charset="-127"/>
              <a:ea typeface="KoPubWorld돋움체 Medium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659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21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25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84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74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9" name="직사각형 18"/>
          <p:cNvSpPr/>
          <p:nvPr userDrawn="1"/>
        </p:nvSpPr>
        <p:spPr>
          <a:xfrm>
            <a:off x="554849" y="2250034"/>
            <a:ext cx="312035" cy="2072534"/>
          </a:xfrm>
          <a:prstGeom prst="rect">
            <a:avLst/>
          </a:prstGeom>
          <a:solidFill>
            <a:srgbClr val="32A7F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/>
          <p:cNvSpPr/>
          <p:nvPr userDrawn="1"/>
        </p:nvSpPr>
        <p:spPr>
          <a:xfrm>
            <a:off x="272481" y="2765499"/>
            <a:ext cx="678170" cy="357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57150">
                <a:solidFill>
                  <a:prstClr val="white"/>
                </a:solidFill>
              </a:ln>
              <a:solidFill>
                <a:srgbClr val="79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 userDrawn="1"/>
        </p:nvSpPr>
        <p:spPr bwMode="auto">
          <a:xfrm>
            <a:off x="1437218" y="2204864"/>
            <a:ext cx="1742785" cy="40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di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A</a:t>
            </a:r>
            <a:r>
              <a:rPr kumimoji="0" lang="en-US" altLang="ko-KR" sz="10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+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 GROUP</a:t>
            </a:r>
          </a:p>
          <a:p>
            <a:pPr marL="0" marR="0" lvl="0" indent="0" algn="di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Tahoma" pitchFamily="34" charset="0"/>
              </a:rPr>
              <a:t>TOTAL LIFE CARE GROUP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Tahoma" pitchFamily="34" charset="0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1" y="2821310"/>
            <a:ext cx="950650" cy="247650"/>
          </a:xfrm>
          <a:prstGeom prst="rect">
            <a:avLst/>
          </a:prstGeom>
          <a:solidFill>
            <a:srgbClr val="034EA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 w="57150">
                <a:solidFill>
                  <a:prstClr val="white"/>
                </a:solidFill>
              </a:ln>
              <a:solidFill>
                <a:srgbClr val="79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8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118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810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>
            <a:off x="0" y="6605588"/>
            <a:ext cx="9906000" cy="252412"/>
          </a:xfrm>
          <a:prstGeom prst="rect">
            <a:avLst/>
          </a:prstGeom>
          <a:solidFill>
            <a:srgbClr val="79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4606440" y="6597352"/>
            <a:ext cx="478102" cy="287338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1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C5C08CE-D885-4D6C-8DE9-6C0400A48FA0}" type="slidenum">
              <a:rPr lang="ko-KR" altLang="en-US" smtClean="0">
                <a:solidFill>
                  <a:prstClr val="white"/>
                </a:solidFill>
              </a:rPr>
              <a:pPr defTabSz="914400">
                <a:defRPr/>
              </a:pPr>
              <a:t>‹#›</a:t>
            </a:fld>
            <a:endParaRPr lang="ko-KR" altLang="en-US" dirty="0">
              <a:solidFill>
                <a:prstClr val="white"/>
              </a:solidFill>
            </a:endParaRPr>
          </a:p>
        </p:txBody>
      </p:sp>
      <p:grpSp>
        <p:nvGrpSpPr>
          <p:cNvPr id="16" name="그룹 15"/>
          <p:cNvGrpSpPr/>
          <p:nvPr userDrawn="1"/>
        </p:nvGrpSpPr>
        <p:grpSpPr>
          <a:xfrm>
            <a:off x="-2175" y="-2034"/>
            <a:ext cx="9908175" cy="868364"/>
            <a:chOff x="-2008" y="-2034"/>
            <a:chExt cx="9146008" cy="868364"/>
          </a:xfrm>
        </p:grpSpPr>
        <p:sp>
          <p:nvSpPr>
            <p:cNvPr id="17" name="직사각형 1"/>
            <p:cNvSpPr/>
            <p:nvPr userDrawn="1"/>
          </p:nvSpPr>
          <p:spPr>
            <a:xfrm>
              <a:off x="-2008" y="-2034"/>
              <a:ext cx="9146008" cy="868364"/>
            </a:xfrm>
            <a:custGeom>
              <a:avLst/>
              <a:gdLst>
                <a:gd name="connsiteX0" fmla="*/ 0 w 9144000"/>
                <a:gd name="connsiteY0" fmla="*/ 0 h 863600"/>
                <a:gd name="connsiteX1" fmla="*/ 9144000 w 9144000"/>
                <a:gd name="connsiteY1" fmla="*/ 0 h 863600"/>
                <a:gd name="connsiteX2" fmla="*/ 9144000 w 9144000"/>
                <a:gd name="connsiteY2" fmla="*/ 863600 h 863600"/>
                <a:gd name="connsiteX3" fmla="*/ 0 w 9144000"/>
                <a:gd name="connsiteY3" fmla="*/ 863600 h 863600"/>
                <a:gd name="connsiteX4" fmla="*/ 0 w 9144000"/>
                <a:gd name="connsiteY4" fmla="*/ 0 h 863600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4000 w 9144000"/>
                <a:gd name="connsiteY3" fmla="*/ 866775 h 866775"/>
                <a:gd name="connsiteX4" fmla="*/ 0 w 9144000"/>
                <a:gd name="connsiteY4" fmla="*/ 866775 h 866775"/>
                <a:gd name="connsiteX5" fmla="*/ 0 w 9144000"/>
                <a:gd name="connsiteY5" fmla="*/ 3175 h 866775"/>
                <a:gd name="connsiteX0" fmla="*/ 0 w 9144000"/>
                <a:gd name="connsiteY0" fmla="*/ 3175 h 866775"/>
                <a:gd name="connsiteX1" fmla="*/ 8972550 w 9144000"/>
                <a:gd name="connsiteY1" fmla="*/ 0 h 866775"/>
                <a:gd name="connsiteX2" fmla="*/ 9144000 w 9144000"/>
                <a:gd name="connsiteY2" fmla="*/ 3175 h 866775"/>
                <a:gd name="connsiteX3" fmla="*/ 9140825 w 9144000"/>
                <a:gd name="connsiteY3" fmla="*/ 323851 h 866775"/>
                <a:gd name="connsiteX4" fmla="*/ 9144000 w 9144000"/>
                <a:gd name="connsiteY4" fmla="*/ 866775 h 866775"/>
                <a:gd name="connsiteX5" fmla="*/ 0 w 9144000"/>
                <a:gd name="connsiteY5" fmla="*/ 866775 h 866775"/>
                <a:gd name="connsiteX6" fmla="*/ 0 w 9144000"/>
                <a:gd name="connsiteY6" fmla="*/ 3175 h 866775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9144000 w 9144000"/>
                <a:gd name="connsiteY4" fmla="*/ 86677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518525 w 9144000"/>
                <a:gd name="connsiteY4" fmla="*/ 682625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317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3175 h 866776"/>
                <a:gd name="connsiteX0" fmla="*/ 0 w 9144000"/>
                <a:gd name="connsiteY0" fmla="*/ 784225 h 866776"/>
                <a:gd name="connsiteX1" fmla="*/ 8972550 w 9144000"/>
                <a:gd name="connsiteY1" fmla="*/ 0 h 866776"/>
                <a:gd name="connsiteX2" fmla="*/ 9144000 w 9144000"/>
                <a:gd name="connsiteY2" fmla="*/ 3175 h 866776"/>
                <a:gd name="connsiteX3" fmla="*/ 9140825 w 9144000"/>
                <a:gd name="connsiteY3" fmla="*/ 323851 h 866776"/>
                <a:gd name="connsiteX4" fmla="*/ 8486775 w 9144000"/>
                <a:gd name="connsiteY4" fmla="*/ 679450 h 866776"/>
                <a:gd name="connsiteX5" fmla="*/ 7435850 w 9144000"/>
                <a:gd name="connsiteY5" fmla="*/ 866776 h 866776"/>
                <a:gd name="connsiteX6" fmla="*/ 0 w 9144000"/>
                <a:gd name="connsiteY6" fmla="*/ 866775 h 866776"/>
                <a:gd name="connsiteX7" fmla="*/ 0 w 9144000"/>
                <a:gd name="connsiteY7" fmla="*/ 784225 h 866776"/>
                <a:gd name="connsiteX0" fmla="*/ 0 w 9144000"/>
                <a:gd name="connsiteY0" fmla="*/ 784225 h 866776"/>
                <a:gd name="connsiteX1" fmla="*/ 7461250 w 9144000"/>
                <a:gd name="connsiteY1" fmla="*/ 1365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6925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0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0 w 9144000"/>
                <a:gd name="connsiteY8" fmla="*/ 784225 h 866776"/>
                <a:gd name="connsiteX0" fmla="*/ 9525 w 9144000"/>
                <a:gd name="connsiteY0" fmla="*/ 784225 h 866776"/>
                <a:gd name="connsiteX1" fmla="*/ 7378700 w 9144000"/>
                <a:gd name="connsiteY1" fmla="*/ 793750 h 866776"/>
                <a:gd name="connsiteX2" fmla="*/ 8972550 w 9144000"/>
                <a:gd name="connsiteY2" fmla="*/ 0 h 866776"/>
                <a:gd name="connsiteX3" fmla="*/ 9144000 w 9144000"/>
                <a:gd name="connsiteY3" fmla="*/ 3175 h 866776"/>
                <a:gd name="connsiteX4" fmla="*/ 9140825 w 9144000"/>
                <a:gd name="connsiteY4" fmla="*/ 323851 h 866776"/>
                <a:gd name="connsiteX5" fmla="*/ 8486775 w 9144000"/>
                <a:gd name="connsiteY5" fmla="*/ 679450 h 866776"/>
                <a:gd name="connsiteX6" fmla="*/ 7435850 w 9144000"/>
                <a:gd name="connsiteY6" fmla="*/ 866776 h 866776"/>
                <a:gd name="connsiteX7" fmla="*/ 0 w 9144000"/>
                <a:gd name="connsiteY7" fmla="*/ 866775 h 866776"/>
                <a:gd name="connsiteX8" fmla="*/ 9525 w 9144000"/>
                <a:gd name="connsiteY8" fmla="*/ 784225 h 866776"/>
                <a:gd name="connsiteX0" fmla="*/ 0 w 9148763"/>
                <a:gd name="connsiteY0" fmla="*/ 788987 h 866776"/>
                <a:gd name="connsiteX1" fmla="*/ 7383463 w 9148763"/>
                <a:gd name="connsiteY1" fmla="*/ 793750 h 866776"/>
                <a:gd name="connsiteX2" fmla="*/ 8977313 w 9148763"/>
                <a:gd name="connsiteY2" fmla="*/ 0 h 866776"/>
                <a:gd name="connsiteX3" fmla="*/ 9148763 w 9148763"/>
                <a:gd name="connsiteY3" fmla="*/ 3175 h 866776"/>
                <a:gd name="connsiteX4" fmla="*/ 9145588 w 9148763"/>
                <a:gd name="connsiteY4" fmla="*/ 323851 h 866776"/>
                <a:gd name="connsiteX5" fmla="*/ 8491538 w 9148763"/>
                <a:gd name="connsiteY5" fmla="*/ 679450 h 866776"/>
                <a:gd name="connsiteX6" fmla="*/ 7440613 w 9148763"/>
                <a:gd name="connsiteY6" fmla="*/ 866776 h 866776"/>
                <a:gd name="connsiteX7" fmla="*/ 4763 w 9148763"/>
                <a:gd name="connsiteY7" fmla="*/ 866775 h 866776"/>
                <a:gd name="connsiteX8" fmla="*/ 0 w 9148763"/>
                <a:gd name="connsiteY8" fmla="*/ 788987 h 866776"/>
                <a:gd name="connsiteX0" fmla="*/ 0 w 9145780"/>
                <a:gd name="connsiteY0" fmla="*/ 790575 h 868364"/>
                <a:gd name="connsiteX1" fmla="*/ 7383463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0 w 9145780"/>
                <a:gd name="connsiteY0" fmla="*/ 790575 h 868364"/>
                <a:gd name="connsiteX1" fmla="*/ 7295357 w 9145780"/>
                <a:gd name="connsiteY1" fmla="*/ 795338 h 868364"/>
                <a:gd name="connsiteX2" fmla="*/ 8977313 w 9145780"/>
                <a:gd name="connsiteY2" fmla="*/ 1588 h 868364"/>
                <a:gd name="connsiteX3" fmla="*/ 9144000 w 9145780"/>
                <a:gd name="connsiteY3" fmla="*/ 0 h 868364"/>
                <a:gd name="connsiteX4" fmla="*/ 9145588 w 9145780"/>
                <a:gd name="connsiteY4" fmla="*/ 325439 h 868364"/>
                <a:gd name="connsiteX5" fmla="*/ 8491538 w 9145780"/>
                <a:gd name="connsiteY5" fmla="*/ 681038 h 868364"/>
                <a:gd name="connsiteX6" fmla="*/ 7440613 w 9145780"/>
                <a:gd name="connsiteY6" fmla="*/ 868364 h 868364"/>
                <a:gd name="connsiteX7" fmla="*/ 4763 w 9145780"/>
                <a:gd name="connsiteY7" fmla="*/ 868363 h 868364"/>
                <a:gd name="connsiteX8" fmla="*/ 0 w 9145780"/>
                <a:gd name="connsiteY8" fmla="*/ 790575 h 868364"/>
                <a:gd name="connsiteX0" fmla="*/ 2381 w 9141017"/>
                <a:gd name="connsiteY0" fmla="*/ 795338 h 868364"/>
                <a:gd name="connsiteX1" fmla="*/ 7290594 w 9141017"/>
                <a:gd name="connsiteY1" fmla="*/ 795338 h 868364"/>
                <a:gd name="connsiteX2" fmla="*/ 8972550 w 9141017"/>
                <a:gd name="connsiteY2" fmla="*/ 1588 h 868364"/>
                <a:gd name="connsiteX3" fmla="*/ 9139237 w 9141017"/>
                <a:gd name="connsiteY3" fmla="*/ 0 h 868364"/>
                <a:gd name="connsiteX4" fmla="*/ 9140825 w 9141017"/>
                <a:gd name="connsiteY4" fmla="*/ 325439 h 868364"/>
                <a:gd name="connsiteX5" fmla="*/ 8486775 w 9141017"/>
                <a:gd name="connsiteY5" fmla="*/ 681038 h 868364"/>
                <a:gd name="connsiteX6" fmla="*/ 7435850 w 9141017"/>
                <a:gd name="connsiteY6" fmla="*/ 868364 h 868364"/>
                <a:gd name="connsiteX7" fmla="*/ 0 w 9141017"/>
                <a:gd name="connsiteY7" fmla="*/ 868363 h 868364"/>
                <a:gd name="connsiteX8" fmla="*/ 2381 w 9141017"/>
                <a:gd name="connsiteY8" fmla="*/ 795338 h 868364"/>
                <a:gd name="connsiteX0" fmla="*/ 68 w 9145847"/>
                <a:gd name="connsiteY0" fmla="*/ 795338 h 868364"/>
                <a:gd name="connsiteX1" fmla="*/ 7295424 w 9145847"/>
                <a:gd name="connsiteY1" fmla="*/ 795338 h 868364"/>
                <a:gd name="connsiteX2" fmla="*/ 8977380 w 9145847"/>
                <a:gd name="connsiteY2" fmla="*/ 1588 h 868364"/>
                <a:gd name="connsiteX3" fmla="*/ 9144067 w 9145847"/>
                <a:gd name="connsiteY3" fmla="*/ 0 h 868364"/>
                <a:gd name="connsiteX4" fmla="*/ 9145655 w 9145847"/>
                <a:gd name="connsiteY4" fmla="*/ 325439 h 868364"/>
                <a:gd name="connsiteX5" fmla="*/ 8491605 w 9145847"/>
                <a:gd name="connsiteY5" fmla="*/ 681038 h 868364"/>
                <a:gd name="connsiteX6" fmla="*/ 7440680 w 9145847"/>
                <a:gd name="connsiteY6" fmla="*/ 868364 h 868364"/>
                <a:gd name="connsiteX7" fmla="*/ 4830 w 9145847"/>
                <a:gd name="connsiteY7" fmla="*/ 868363 h 868364"/>
                <a:gd name="connsiteX8" fmla="*/ 68 w 9145847"/>
                <a:gd name="connsiteY8" fmla="*/ 795338 h 868364"/>
                <a:gd name="connsiteX0" fmla="*/ 229 w 9146008"/>
                <a:gd name="connsiteY0" fmla="*/ 795338 h 868364"/>
                <a:gd name="connsiteX1" fmla="*/ 7295585 w 9146008"/>
                <a:gd name="connsiteY1" fmla="*/ 795338 h 868364"/>
                <a:gd name="connsiteX2" fmla="*/ 8977541 w 9146008"/>
                <a:gd name="connsiteY2" fmla="*/ 1588 h 868364"/>
                <a:gd name="connsiteX3" fmla="*/ 9144228 w 9146008"/>
                <a:gd name="connsiteY3" fmla="*/ 0 h 868364"/>
                <a:gd name="connsiteX4" fmla="*/ 9145816 w 9146008"/>
                <a:gd name="connsiteY4" fmla="*/ 325439 h 868364"/>
                <a:gd name="connsiteX5" fmla="*/ 8491766 w 9146008"/>
                <a:gd name="connsiteY5" fmla="*/ 681038 h 868364"/>
                <a:gd name="connsiteX6" fmla="*/ 7440841 w 9146008"/>
                <a:gd name="connsiteY6" fmla="*/ 868364 h 868364"/>
                <a:gd name="connsiteX7" fmla="*/ 229 w 9146008"/>
                <a:gd name="connsiteY7" fmla="*/ 868363 h 868364"/>
                <a:gd name="connsiteX8" fmla="*/ 229 w 9146008"/>
                <a:gd name="connsiteY8" fmla="*/ 795338 h 86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6008" h="868364">
                  <a:moveTo>
                    <a:pt x="229" y="795338"/>
                  </a:moveTo>
                  <a:lnTo>
                    <a:pt x="7295585" y="795338"/>
                  </a:lnTo>
                  <a:cubicBezTo>
                    <a:pt x="8128493" y="737130"/>
                    <a:pt x="8684383" y="351896"/>
                    <a:pt x="8977541" y="1588"/>
                  </a:cubicBezTo>
                  <a:lnTo>
                    <a:pt x="9144228" y="0"/>
                  </a:lnTo>
                  <a:cubicBezTo>
                    <a:pt x="9143170" y="106892"/>
                    <a:pt x="9146874" y="218547"/>
                    <a:pt x="9145816" y="325439"/>
                  </a:cubicBezTo>
                  <a:cubicBezTo>
                    <a:pt x="8988124" y="455614"/>
                    <a:pt x="8843133" y="534988"/>
                    <a:pt x="8491766" y="681038"/>
                  </a:cubicBezTo>
                  <a:cubicBezTo>
                    <a:pt x="8181674" y="780522"/>
                    <a:pt x="8014458" y="848255"/>
                    <a:pt x="7440841" y="868364"/>
                  </a:cubicBezTo>
                  <a:lnTo>
                    <a:pt x="229" y="868363"/>
                  </a:lnTo>
                  <a:cubicBezTo>
                    <a:pt x="1023" y="844021"/>
                    <a:pt x="-565" y="819680"/>
                    <a:pt x="229" y="795338"/>
                  </a:cubicBezTo>
                  <a:close/>
                </a:path>
              </a:pathLst>
            </a:custGeom>
            <a:solidFill>
              <a:srgbClr val="034EA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"/>
            <p:cNvSpPr/>
            <p:nvPr userDrawn="1"/>
          </p:nvSpPr>
          <p:spPr>
            <a:xfrm>
              <a:off x="7385050" y="313161"/>
              <a:ext cx="1758950" cy="553169"/>
            </a:xfrm>
            <a:custGeom>
              <a:avLst/>
              <a:gdLst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5341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0 w 1758950"/>
                <a:gd name="connsiteY0" fmla="*/ 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0 w 1758950"/>
                <a:gd name="connsiteY5" fmla="*/ 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108075 w 1758950"/>
                <a:gd name="connsiteY0" fmla="*/ 20955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108075 w 1758950"/>
                <a:gd name="connsiteY5" fmla="*/ 20955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0 w 1758950"/>
                <a:gd name="connsiteY4" fmla="*/ 454744 h 534119"/>
                <a:gd name="connsiteX5" fmla="*/ 1098550 w 1758950"/>
                <a:gd name="connsiteY5" fmla="*/ 342900 h 534119"/>
                <a:gd name="connsiteX0" fmla="*/ 1098550 w 1758950"/>
                <a:gd name="connsiteY0" fmla="*/ 342900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5" fmla="*/ 1098550 w 1758950"/>
                <a:gd name="connsiteY5" fmla="*/ 342900 h 534119"/>
                <a:gd name="connsiteX0" fmla="*/ 673100 w 1758950"/>
                <a:gd name="connsiteY0" fmla="*/ 454744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4" fmla="*/ 673100 w 1758950"/>
                <a:gd name="connsiteY4" fmla="*/ 454744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34119 h 534119"/>
                <a:gd name="connsiteX1" fmla="*/ 1758950 w 1758950"/>
                <a:gd name="connsiteY1" fmla="*/ 0 h 534119"/>
                <a:gd name="connsiteX2" fmla="*/ 1758950 w 1758950"/>
                <a:gd name="connsiteY2" fmla="*/ 267419 h 534119"/>
                <a:gd name="connsiteX3" fmla="*/ 0 w 1758950"/>
                <a:gd name="connsiteY3" fmla="*/ 534119 h 534119"/>
                <a:gd name="connsiteX0" fmla="*/ 0 w 1758950"/>
                <a:gd name="connsiteY0" fmla="*/ 553169 h 553169"/>
                <a:gd name="connsiteX1" fmla="*/ 1755775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  <a:gd name="connsiteX0" fmla="*/ 0 w 1758950"/>
                <a:gd name="connsiteY0" fmla="*/ 553169 h 553169"/>
                <a:gd name="connsiteX1" fmla="*/ 1758156 w 1758950"/>
                <a:gd name="connsiteY1" fmla="*/ 0 h 553169"/>
                <a:gd name="connsiteX2" fmla="*/ 1758950 w 1758950"/>
                <a:gd name="connsiteY2" fmla="*/ 286469 h 553169"/>
                <a:gd name="connsiteX3" fmla="*/ 0 w 1758950"/>
                <a:gd name="connsiteY3" fmla="*/ 553169 h 55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8950" h="553169">
                  <a:moveTo>
                    <a:pt x="0" y="553169"/>
                  </a:moveTo>
                  <a:cubicBezTo>
                    <a:pt x="652992" y="537054"/>
                    <a:pt x="1044839" y="409815"/>
                    <a:pt x="1758156" y="0"/>
                  </a:cubicBezTo>
                  <a:cubicBezTo>
                    <a:pt x="1759214" y="95490"/>
                    <a:pt x="1757892" y="190979"/>
                    <a:pt x="1758950" y="286469"/>
                  </a:cubicBezTo>
                  <a:cubicBezTo>
                    <a:pt x="1223433" y="435694"/>
                    <a:pt x="948267" y="515069"/>
                    <a:pt x="0" y="553169"/>
                  </a:cubicBezTo>
                  <a:close/>
                </a:path>
              </a:pathLst>
            </a:custGeom>
            <a:solidFill>
              <a:srgbClr val="D1D3D4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9" name="Picture 19" descr="C:\Users\aplus\Desktop\1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89" y="6620789"/>
            <a:ext cx="858095" cy="22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5" descr="C:\Users\aplus\Documents\네이트온 받은 파일\에셋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425" y="6628347"/>
            <a:ext cx="863889" cy="21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185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484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3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F8EBF-0EDC-4EDF-A7F9-44AE75FD6F84}" type="slidenum">
              <a:rPr lang="en-US" altLang="ko-KR" smtClean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prstClr val="white"/>
                </a:solidFill>
              </a:rPr>
              <a:pPr/>
              <a:t>‹#›</a:t>
            </a:fld>
            <a:endParaRPr lang="en-US" altLang="ko-KR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15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5" r:id="rId1"/>
    <p:sldLayoutId id="214748410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1"/>
            <a:ext cx="8915400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23A1C210-3BE9-4B28-BDAE-0A7645B27D13}" type="datetimeFigureOut">
              <a:rPr lang="ko-KR" altLang="en-US" smtClean="0"/>
              <a:pPr defTabSz="914400">
                <a:defRPr/>
              </a:pPr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6F2BCEB-BFA0-4B05-B83B-42E76C2150DA}" type="slidenum">
              <a:rPr lang="ko-KR" altLang="en-US" smtClean="0"/>
              <a:pPr defTabSz="91440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158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189" r:id="rId3"/>
    <p:sldLayoutId id="2147484190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1"/>
            <a:ext cx="8915400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23A1C210-3BE9-4B28-BDAE-0A7645B27D13}" type="datetimeFigureOut">
              <a:rPr lang="ko-KR" altLang="en-US" smtClean="0"/>
              <a:pPr defTabSz="914400">
                <a:defRPr/>
              </a:pPr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6F2BCEB-BFA0-4B05-B83B-42E76C2150DA}" type="slidenum">
              <a:rPr lang="ko-KR" altLang="en-US" smtClean="0"/>
              <a:pPr defTabSz="91440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57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  <p:sldLayoutId id="2147484195" r:id="rId4"/>
    <p:sldLayoutId id="2147484196" r:id="rId5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1"/>
            <a:ext cx="8915400" cy="90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6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23A1C210-3BE9-4B28-BDAE-0A7645B27D13}" type="datetimeFigureOut">
              <a:rPr lang="ko-KR" altLang="en-US" smtClean="0"/>
              <a:pPr defTabSz="914400">
                <a:defRPr/>
              </a:pPr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7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7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 defTabSz="914400">
              <a:defRPr/>
            </a:pPr>
            <a:fld id="{A6F2BCEB-BFA0-4B05-B83B-42E76C2150DA}" type="slidenum">
              <a:rPr lang="ko-KR" altLang="en-US" smtClean="0"/>
              <a:pPr defTabSz="91440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63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8" r:id="rId1"/>
    <p:sldLayoutId id="2147484199" r:id="rId2"/>
    <p:sldLayoutId id="2147484200" r:id="rId3"/>
    <p:sldLayoutId id="2147484201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6990" y="3591342"/>
            <a:ext cx="1689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26.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03. 2</a:t>
            </a:r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7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. (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금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)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9840" y="1707733"/>
            <a:ext cx="5065810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spc="200" dirty="0" smtClean="0">
                <a:solidFill>
                  <a:srgbClr val="358E62"/>
                </a:solidFill>
                <a:latin typeface="여기어때 잘난체 2 TTF" pitchFamily="2" charset="-127"/>
                <a:ea typeface="여기어때 잘난체 2 TTF" pitchFamily="2" charset="-127"/>
              </a:rPr>
              <a:t>교육지원파트</a:t>
            </a:r>
            <a:endParaRPr lang="en-US" altLang="ko-KR" sz="4800" spc="200" dirty="0">
              <a:solidFill>
                <a:srgbClr val="358E62"/>
              </a:solidFill>
              <a:latin typeface="여기어때 잘난체 2 TTF" pitchFamily="2" charset="-127"/>
              <a:ea typeface="여기어때 잘난체 2 TTF" pitchFamily="2" charset="-127"/>
            </a:endParaRPr>
          </a:p>
          <a:p>
            <a:r>
              <a:rPr lang="ko-KR" altLang="en-US" sz="4000" spc="200" dirty="0" smtClean="0">
                <a:solidFill>
                  <a:srgbClr val="262626"/>
                </a:solidFill>
                <a:latin typeface="여기어때 잘난체 2 TTF" pitchFamily="2" charset="-127"/>
                <a:ea typeface="여기어때 잘난체 2 TTF" pitchFamily="2" charset="-127"/>
              </a:rPr>
              <a:t>이해하기 쉽게 만든</a:t>
            </a:r>
            <a:endParaRPr lang="en-US" altLang="ko-KR" sz="4000" spc="200" dirty="0" smtClean="0">
              <a:solidFill>
                <a:srgbClr val="262626"/>
              </a:solidFill>
              <a:latin typeface="여기어때 잘난체 2 TTF" pitchFamily="2" charset="-127"/>
              <a:ea typeface="여기어때 잘난체 2 TTF" pitchFamily="2" charset="-127"/>
            </a:endParaRPr>
          </a:p>
          <a:p>
            <a:r>
              <a:rPr lang="en-US" altLang="ko-KR" sz="4000" spc="200" dirty="0" smtClean="0">
                <a:solidFill>
                  <a:srgbClr val="262626"/>
                </a:solidFill>
                <a:latin typeface="여기어때 잘난체 2 TTF" pitchFamily="2" charset="-127"/>
                <a:ea typeface="여기어때 잘난체 2 TTF" pitchFamily="2" charset="-127"/>
              </a:rPr>
              <a:t>A+ </a:t>
            </a:r>
            <a:r>
              <a:rPr lang="ko-KR" altLang="en-US" sz="4000" spc="200" dirty="0" smtClean="0">
                <a:solidFill>
                  <a:srgbClr val="262626"/>
                </a:solidFill>
                <a:latin typeface="여기어때 잘난체 2 TTF" pitchFamily="2" charset="-127"/>
                <a:ea typeface="여기어때 잘난체 2 TTF" pitchFamily="2" charset="-127"/>
              </a:rPr>
              <a:t>자동차 비교견적</a:t>
            </a:r>
            <a:endParaRPr lang="ko-KR" altLang="en-US" sz="4000" spc="200" dirty="0">
              <a:solidFill>
                <a:srgbClr val="262626"/>
              </a:solidFill>
              <a:latin typeface="여기어때 잘난체 2 TTF" pitchFamily="2" charset="-127"/>
              <a:ea typeface="여기어때 잘난체 2 TTF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433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자동차 비교견적 가이드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16F5D-AF0C-4D7C-8C86-07F2BB967FA6}"/>
              </a:ext>
            </a:extLst>
          </p:cNvPr>
          <p:cNvSpPr txBox="1"/>
          <p:nvPr/>
        </p:nvSpPr>
        <p:spPr>
          <a:xfrm>
            <a:off x="225091" y="968326"/>
            <a:ext cx="9575126" cy="5657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[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한눈에 보는 프로세스</a:t>
            </a: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]</a:t>
            </a:r>
            <a:endParaRPr lang="en-US" altLang="ko-KR" sz="900" b="1" kern="0" dirty="0">
              <a:solidFill>
                <a:srgbClr val="000000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marR="0" lvl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b="1" kern="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0.  </a:t>
            </a:r>
            <a:r>
              <a:rPr lang="ko-KR" altLang="en-US" b="1" kern="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보험개발원 이용등록</a:t>
            </a:r>
            <a:endParaRPr lang="en-US" altLang="ko-KR" b="1" kern="0" dirty="0">
              <a:solidFill>
                <a:srgbClr val="FF0000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lvl="0" fontAlgn="base">
              <a:spcBef>
                <a:spcPts val="700"/>
              </a:spcBef>
            </a:pP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1. </a:t>
            </a:r>
            <a:r>
              <a:rPr lang="en-US" altLang="ko-KR" b="1" kern="0" spc="0" dirty="0" smtClean="0">
                <a:effectLst/>
                <a:highlight>
                  <a:srgbClr val="FFFF00"/>
                </a:highlight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KB</a:t>
            </a:r>
            <a:r>
              <a:rPr lang="ko-KR" altLang="en-US" b="1" kern="0" spc="0" dirty="0" err="1">
                <a:effectLst/>
                <a:highlight>
                  <a:srgbClr val="FFFF00"/>
                </a:highlight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손보</a:t>
            </a:r>
            <a:r>
              <a:rPr lang="ko-KR" altLang="en-US" b="1" kern="0" spc="0" dirty="0">
                <a:effectLst/>
                <a:highlight>
                  <a:srgbClr val="FFFF00"/>
                </a:highlight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가입설계동의서 풀기</a:t>
            </a:r>
            <a:r>
              <a:rPr lang="en-US" altLang="ko-KR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dirty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운전할</a:t>
            </a:r>
            <a:r>
              <a:rPr lang="ko-KR" altLang="en-US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대상자 모두 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!!)</a:t>
            </a:r>
          </a:p>
          <a:p>
            <a:pPr fontAlgn="base">
              <a:spcBef>
                <a:spcPts val="700"/>
              </a:spcBef>
            </a:pP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2.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고객 등록하기 </a:t>
            </a:r>
            <a:r>
              <a:rPr lang="en-US" altLang="ko-KR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A</a:t>
            </a:r>
            <a:r>
              <a:rPr lang="en-US" altLang="ko-KR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+)</a:t>
            </a:r>
            <a:endParaRPr lang="en-US" altLang="ko-KR" kern="0" dirty="0">
              <a:solidFill>
                <a:srgbClr val="000000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fontAlgn="base">
              <a:spcBef>
                <a:spcPts val="700"/>
              </a:spcBef>
            </a:pPr>
            <a:r>
              <a:rPr lang="en-US" altLang="ko-KR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3. </a:t>
            </a:r>
            <a:r>
              <a:rPr lang="ko-KR" altLang="en-US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세일즈 플러스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‘자동차 비교견적’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클릭</a:t>
            </a:r>
            <a:endParaRPr lang="en-US" altLang="ko-KR" kern="0" spc="0" dirty="0" smtClean="0">
              <a:solidFill>
                <a:srgbClr val="000000"/>
              </a:solidFill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fontAlgn="base">
              <a:spcBef>
                <a:spcPts val="700"/>
              </a:spcBef>
            </a:pP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4. </a:t>
            </a:r>
            <a:r>
              <a:rPr lang="ko-KR" altLang="en-US" kern="0" spc="0" dirty="0" err="1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견적요청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– KB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손해보험 클릭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영업용 차량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오토바이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법인계약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KB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손보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kern="0" spc="0" dirty="0" err="1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코드없으면</a:t>
            </a:r>
            <a:r>
              <a:rPr lang="en-US" altLang="ko-KR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오른쪽 클릭</a:t>
            </a:r>
            <a:r>
              <a:rPr lang="en-US" altLang="ko-KR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</a:t>
            </a:r>
          </a:p>
          <a:p>
            <a:pPr marR="0" lvl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5. </a:t>
            </a:r>
            <a:r>
              <a:rPr lang="ko-KR" altLang="en-US" kern="0" dirty="0" err="1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가입형태</a:t>
            </a:r>
            <a:r>
              <a:rPr lang="ko-KR" altLang="en-US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만기 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갱신</a:t>
            </a:r>
            <a:r>
              <a:rPr lang="en-US" altLang="ko-KR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 </a:t>
            </a:r>
            <a:r>
              <a:rPr lang="en-US" altLang="ko-KR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/ 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차량구입 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신차</a:t>
            </a:r>
            <a:r>
              <a:rPr lang="en-US" altLang="ko-KR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</a:t>
            </a:r>
            <a:r>
              <a:rPr lang="ko-KR" altLang="en-US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中 선택 </a:t>
            </a:r>
            <a:endParaRPr lang="ko-KR" altLang="en-US" kern="0" spc="0" dirty="0">
              <a:solidFill>
                <a:srgbClr val="000000"/>
              </a:solidFill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marR="0" lvl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b="1" kern="0" spc="0" dirty="0" smtClean="0"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6. </a:t>
            </a:r>
            <a:r>
              <a:rPr lang="ko-KR" altLang="en-US" b="1" kern="0" spc="0" dirty="0" smtClean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차대번호</a:t>
            </a:r>
            <a:r>
              <a:rPr lang="ko-KR" altLang="en-US" b="1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및 차량번호 조회 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차대번호</a:t>
            </a:r>
            <a:r>
              <a:rPr lang="en-US" altLang="ko-KR" b="1" kern="0" spc="0" dirty="0"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spc="0" dirty="0"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신차</a:t>
            </a:r>
            <a:r>
              <a:rPr lang="en-US" altLang="ko-KR" b="1" kern="0" spc="0" dirty="0"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= </a:t>
            </a:r>
            <a:r>
              <a:rPr lang="ko-KR" altLang="en-US" b="1" kern="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차량번호 나오면</a:t>
            </a:r>
            <a:r>
              <a:rPr lang="en-US" altLang="ko-KR" b="1" kern="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</a:t>
            </a:r>
            <a:r>
              <a:rPr lang="en-US" altLang="ko-KR" b="1" kern="0" spc="0" dirty="0"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차량번호 확정 꼭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…!!!!!)</a:t>
            </a:r>
            <a:endParaRPr lang="ko-KR" altLang="en-US" kern="0" spc="0" dirty="0">
              <a:solidFill>
                <a:srgbClr val="000000"/>
              </a:solidFill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marL="0" marR="0" indent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7. </a:t>
            </a:r>
            <a:r>
              <a:rPr lang="ko-KR" altLang="en-US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개인</a:t>
            </a:r>
            <a:r>
              <a:rPr lang="en-US" altLang="ko-KR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/</a:t>
            </a:r>
            <a:r>
              <a:rPr lang="ko-KR" altLang="en-US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법인 中 </a:t>
            </a:r>
            <a:r>
              <a:rPr lang="ko-KR" altLang="en-US" b="1" kern="0" dirty="0" smtClean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선택 </a:t>
            </a:r>
            <a:r>
              <a:rPr lang="en-US" altLang="ko-KR" b="1" kern="0" dirty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&amp;</a:t>
            </a:r>
            <a:r>
              <a:rPr lang="en-US" altLang="ko-KR" b="1" kern="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b="1" kern="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계약자 </a:t>
            </a:r>
            <a:r>
              <a:rPr lang="en-US" altLang="ko-KR" b="1" kern="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/ </a:t>
            </a:r>
            <a:r>
              <a:rPr lang="ko-KR" altLang="en-US" b="1" kern="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피보험자 조회</a:t>
            </a:r>
            <a:endParaRPr lang="en-US" altLang="ko-KR" b="1" kern="0" spc="0" dirty="0"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fontAlgn="base">
              <a:spcBef>
                <a:spcPts val="700"/>
              </a:spcBef>
            </a:pPr>
            <a:r>
              <a:rPr lang="en-US" altLang="ko-KR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8</a:t>
            </a:r>
            <a:r>
              <a:rPr lang="en-US" altLang="ko-KR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 </a:t>
            </a:r>
            <a:r>
              <a:rPr lang="ko-KR" altLang="en-US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메모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: </a:t>
            </a:r>
            <a:r>
              <a:rPr lang="ko-KR" altLang="en-US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운전자범위 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– ‘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가족한정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누구나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’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의 경우 최소 운전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연령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&amp; </a:t>
            </a:r>
            <a:r>
              <a:rPr lang="ko-KR" altLang="en-US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담보</a:t>
            </a:r>
            <a:r>
              <a:rPr lang="en-US" altLang="ko-KR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희망 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가입금액</a:t>
            </a:r>
            <a:r>
              <a:rPr lang="en-US" altLang="ko-KR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&amp; </a:t>
            </a:r>
            <a:r>
              <a:rPr lang="ko-KR" altLang="en-US" b="1" kern="0" dirty="0" err="1" smtClean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블박</a:t>
            </a:r>
            <a:r>
              <a:rPr lang="en-US" altLang="ko-KR" b="1" kern="0" dirty="0" smtClean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/</a:t>
            </a:r>
            <a:r>
              <a:rPr lang="ko-KR" altLang="en-US" b="1" kern="0" dirty="0" smtClean="0">
                <a:solidFill>
                  <a:srgbClr val="FF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마일리지</a:t>
            </a:r>
            <a:endParaRPr lang="en-US" altLang="ko-KR" b="1" kern="0" dirty="0" smtClean="0">
              <a:solidFill>
                <a:srgbClr val="FF0000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fontAlgn="base">
              <a:spcBef>
                <a:spcPts val="700"/>
              </a:spcBef>
            </a:pPr>
            <a:r>
              <a:rPr lang="en-US" altLang="ko-KR" b="1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9</a:t>
            </a: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하단에</a:t>
            </a:r>
            <a:r>
              <a:rPr lang="ko-KR" altLang="en-US" kern="0" spc="0" dirty="0" smtClean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b="1" kern="0" spc="0" dirty="0" err="1" smtClean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견적요청</a:t>
            </a:r>
            <a:r>
              <a:rPr lang="ko-KR" altLang="en-US" kern="0" spc="0" dirty="0" smtClean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클릭   </a:t>
            </a:r>
            <a:r>
              <a:rPr lang="en-US" altLang="ko-KR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*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신차 출고 등 급박한 건에 대해선 자동차비교견적 파트 문의</a:t>
            </a:r>
            <a:endParaRPr lang="en-US" altLang="ko-KR" kern="0" spc="0" dirty="0" smtClean="0">
              <a:solidFill>
                <a:srgbClr val="000000"/>
              </a:solidFill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fontAlgn="base">
              <a:spcBef>
                <a:spcPts val="700"/>
              </a:spcBef>
            </a:pPr>
            <a:r>
              <a:rPr lang="en-US" altLang="ko-KR" b="1" kern="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10. </a:t>
            </a:r>
            <a:r>
              <a:rPr lang="en-US" altLang="ko-KR" b="1" kern="0" dirty="0" smtClean="0">
                <a:solidFill>
                  <a:schemeClr val="bg1">
                    <a:lumMod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dirty="0" smtClean="0">
                <a:solidFill>
                  <a:schemeClr val="bg1">
                    <a:lumMod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필요시</a:t>
            </a:r>
            <a:r>
              <a:rPr lang="en-US" altLang="ko-KR" b="1" kern="0" dirty="0" smtClean="0">
                <a:solidFill>
                  <a:schemeClr val="bg1">
                    <a:lumMod val="5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</a:t>
            </a:r>
            <a:r>
              <a:rPr lang="en-US" altLang="ko-KR" b="1" kern="0" dirty="0" smtClean="0"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파일 첨부 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: 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자동차 등록증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특약 할인 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마일리지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b="1" kern="0" dirty="0" err="1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블박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크루즈 등</a:t>
            </a:r>
            <a:r>
              <a:rPr lang="en-US" altLang="ko-KR" b="1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</a:t>
            </a:r>
            <a:endParaRPr lang="ko-KR" altLang="en-US" kern="0" spc="0" dirty="0" smtClean="0">
              <a:solidFill>
                <a:srgbClr val="000000"/>
              </a:solidFill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marR="0" lvl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b="1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11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 </a:t>
            </a:r>
            <a:r>
              <a:rPr lang="ko-KR" altLang="en-US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비교견적 완료 후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b="1" kern="0" spc="0" dirty="0" smtClean="0"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원하는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보험사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선택해서 해당보험사 동의서 풀기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.</a:t>
            </a:r>
            <a:r>
              <a:rPr lang="ko-KR" altLang="en-US" kern="0" dirty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보험대상자 모두 동의서 풀 것</a:t>
            </a:r>
            <a:r>
              <a:rPr lang="en-US" altLang="ko-KR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!)</a:t>
            </a:r>
            <a:endParaRPr lang="ko-KR" altLang="en-US" kern="0" spc="0" dirty="0">
              <a:solidFill>
                <a:srgbClr val="000000"/>
              </a:solidFill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  <a:p>
            <a:pPr marL="0" marR="0" indent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12.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회사 선택하여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b="1" kern="0" spc="0" dirty="0" err="1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원수사</a:t>
            </a:r>
            <a:r>
              <a:rPr lang="ko-KR" altLang="en-US" b="1" kern="0" spc="0" dirty="0">
                <a:solidFill>
                  <a:srgbClr val="FF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 설계 요청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클릭</a:t>
            </a:r>
          </a:p>
          <a:p>
            <a:pPr marL="0" marR="0" indent="0" fontAlgn="base" latinLnBrk="1">
              <a:spcBef>
                <a:spcPts val="700"/>
              </a:spcBef>
              <a:spcAft>
                <a:spcPts val="0"/>
              </a:spcAft>
            </a:pPr>
            <a:r>
              <a:rPr lang="en-US" altLang="ko-KR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13. </a:t>
            </a:r>
            <a:r>
              <a:rPr lang="ko-KR" altLang="en-US" b="1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알림 </a:t>
            </a:r>
            <a:r>
              <a:rPr lang="en-US" altLang="ko-KR" b="1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b="1" kern="0" spc="0" dirty="0" err="1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보플</a:t>
            </a:r>
            <a:r>
              <a:rPr lang="en-US" altLang="ko-KR" b="1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확인 후</a:t>
            </a:r>
            <a:r>
              <a:rPr lang="en-US" altLang="ko-KR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, </a:t>
            </a:r>
            <a:r>
              <a:rPr lang="ko-KR" altLang="en-US" kern="0" spc="0" dirty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해당 보험사 로그인 후 </a:t>
            </a:r>
            <a:r>
              <a:rPr lang="ko-KR" altLang="en-US" kern="0" spc="0" dirty="0" smtClean="0">
                <a:solidFill>
                  <a:srgbClr val="000000"/>
                </a:solidFill>
                <a:effectLst/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자동차 설계 조회 및 청약 진행 </a:t>
            </a: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(</a:t>
            </a:r>
            <a:r>
              <a:rPr lang="ko-KR" altLang="en-US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모바일 </a:t>
            </a: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or </a:t>
            </a:r>
            <a:r>
              <a:rPr lang="ko-KR" altLang="en-US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종이</a:t>
            </a:r>
            <a:r>
              <a:rPr lang="en-US" altLang="ko-KR" kern="0" dirty="0" smtClean="0">
                <a:solidFill>
                  <a:srgbClr val="00000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)</a:t>
            </a:r>
            <a:endParaRPr lang="ko-KR" altLang="en-US" kern="0" spc="0" dirty="0">
              <a:solidFill>
                <a:srgbClr val="000000"/>
              </a:solidFill>
              <a:effectLst/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780583" y="1127760"/>
            <a:ext cx="3912057" cy="12077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6" rtl="0" eaLnBrk="1" fontAlgn="auto" latinLnBrk="1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~ 10</a:t>
            </a:r>
            <a:r>
              <a:rPr lang="ko-KR" altLang="en-US" sz="24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번 </a:t>
            </a:r>
            <a:r>
              <a:rPr lang="en-US" altLang="ko-KR" sz="24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: KB</a:t>
            </a:r>
            <a:r>
              <a:rPr lang="ko-KR" altLang="en-US" sz="24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손보 이용한 </a:t>
            </a:r>
            <a:r>
              <a:rPr lang="ko-KR" altLang="en-US" sz="2400" dirty="0" smtClean="0">
                <a:solidFill>
                  <a:srgbClr val="FF00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가설</a:t>
            </a:r>
            <a:endParaRPr lang="en-US" altLang="ko-KR" sz="2400" dirty="0" smtClean="0">
              <a:solidFill>
                <a:srgbClr val="FF0000"/>
              </a:solidFill>
              <a:latin typeface="a고딕16" panose="02020600000000000000" pitchFamily="18" charset="-127"/>
              <a:ea typeface="a고딕16" panose="02020600000000000000" pitchFamily="18" charset="-127"/>
            </a:endParaRPr>
          </a:p>
          <a:p>
            <a:pPr marL="0" marR="0" lvl="0" indent="0" algn="ctr" defTabSz="914296" rtl="0" eaLnBrk="1" fontAlgn="auto" latinLnBrk="1" hangingPunct="1"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rPr>
              <a:t>11 ~ 13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rPr>
              <a:t>번 </a:t>
            </a:r>
            <a:r>
              <a:rPr kumimoji="0" lang="en-US" altLang="ko-KR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rPr>
              <a:t>: </a:t>
            </a:r>
            <a:r>
              <a:rPr kumimoji="0" lang="ko-KR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rPr>
              <a:t>원수사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rPr>
              <a:t> 지정 </a:t>
            </a:r>
            <a:r>
              <a:rPr kumimoji="0" lang="ko-KR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고딕16" panose="02020600000000000000" pitchFamily="18" charset="-127"/>
                <a:ea typeface="a고딕16" panose="02020600000000000000" pitchFamily="18" charset="-127"/>
              </a:rPr>
              <a:t>진설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197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주의사항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358865" y="1469513"/>
            <a:ext cx="720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6" rtl="0" eaLnBrk="1" fontAlgn="auto" latinLnBrk="1" hangingPunct="1"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dirty="0" smtClean="0">
                <a:solidFill>
                  <a:srgbClr val="FF00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KB </a:t>
            </a:r>
            <a:r>
              <a:rPr lang="ko-KR" altLang="en-US" sz="4000" dirty="0" err="1" smtClean="0">
                <a:solidFill>
                  <a:srgbClr val="FF00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손보</a:t>
            </a:r>
            <a:r>
              <a:rPr lang="ko-KR" altLang="en-US" sz="4000" dirty="0" err="1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를</a:t>
            </a:r>
            <a:r>
              <a:rPr lang="ko-KR" altLang="en-US" sz="40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이용한 비교견적 </a:t>
            </a:r>
            <a:r>
              <a:rPr lang="en-US" altLang="ko-KR" sz="40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= </a:t>
            </a:r>
            <a:r>
              <a:rPr lang="ko-KR" altLang="en-US" sz="4000" dirty="0" smtClean="0">
                <a:solidFill>
                  <a:srgbClr val="FF000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가설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358865" y="4915534"/>
            <a:ext cx="720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96" rtl="0" eaLnBrk="1" fontAlgn="auto" latinLnBrk="1" hangingPunct="1"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특정 </a:t>
            </a:r>
            <a:r>
              <a:rPr lang="ko-KR" altLang="en-US" sz="4000" dirty="0" err="1" smtClean="0">
                <a:solidFill>
                  <a:srgbClr val="0070C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원수사</a:t>
            </a:r>
            <a:r>
              <a:rPr lang="ko-KR" altLang="en-US" sz="4000" dirty="0" smtClean="0">
                <a:solidFill>
                  <a:srgbClr val="0070C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지정</a:t>
            </a:r>
            <a:r>
              <a:rPr lang="ko-KR" altLang="en-US" sz="4000" dirty="0" smtClean="0">
                <a:solidFill>
                  <a:prstClr val="black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 설계 요청 = </a:t>
            </a:r>
            <a:r>
              <a:rPr lang="ko-KR" altLang="en-US" sz="4000" dirty="0" smtClean="0">
                <a:solidFill>
                  <a:srgbClr val="0070C0"/>
                </a:solidFill>
                <a:latin typeface="a고딕16" panose="02020600000000000000" pitchFamily="18" charset="-127"/>
                <a:ea typeface="a고딕16" panose="02020600000000000000" pitchFamily="18" charset="-127"/>
              </a:rPr>
              <a:t>진설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고딕16" panose="02020600000000000000" pitchFamily="18" charset="-127"/>
              <a:ea typeface="a고딕16" panose="02020600000000000000" pitchFamily="18" charset="-127"/>
            </a:endParaRPr>
          </a:p>
        </p:txBody>
      </p:sp>
      <p:sp>
        <p:nvSpPr>
          <p:cNvPr id="2" name="위쪽/아래쪽 화살표 1"/>
          <p:cNvSpPr/>
          <p:nvPr/>
        </p:nvSpPr>
        <p:spPr>
          <a:xfrm>
            <a:off x="4401118" y="2727757"/>
            <a:ext cx="1115494" cy="2009532"/>
          </a:xfrm>
          <a:prstGeom prst="upDownArrow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41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이용자 등록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58865" y="1027885"/>
            <a:ext cx="9000000" cy="5400000"/>
            <a:chOff x="159798" y="296365"/>
            <a:chExt cx="11833933" cy="5811471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798" y="296365"/>
              <a:ext cx="11833933" cy="5811471"/>
            </a:xfrm>
            <a:prstGeom prst="rect">
              <a:avLst/>
            </a:prstGeom>
          </p:spPr>
        </p:pic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98BC9F2-16B6-46CC-AE5D-0CE7559471C6}"/>
                </a:ext>
              </a:extLst>
            </p:cNvPr>
            <p:cNvSpPr/>
            <p:nvPr/>
          </p:nvSpPr>
          <p:spPr>
            <a:xfrm>
              <a:off x="2609713" y="4363598"/>
              <a:ext cx="1085850" cy="2293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사각형: 둥근 모서리 9">
              <a:extLst>
                <a:ext uri="{FF2B5EF4-FFF2-40B4-BE49-F238E27FC236}">
                  <a16:creationId xmlns:a16="http://schemas.microsoft.com/office/drawing/2014/main" id="{7652260B-0799-4DA4-AF52-5C26536CEF6B}"/>
                </a:ext>
              </a:extLst>
            </p:cNvPr>
            <p:cNvSpPr/>
            <p:nvPr/>
          </p:nvSpPr>
          <p:spPr>
            <a:xfrm>
              <a:off x="2354003" y="4221120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1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74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3643237-C495-434A-8354-3B52FC6B4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65" y="1101392"/>
            <a:ext cx="9000000" cy="5400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5E02340-400B-4DCB-85C1-6EE7BD1A9505}"/>
              </a:ext>
            </a:extLst>
          </p:cNvPr>
          <p:cNvSpPr/>
          <p:nvPr/>
        </p:nvSpPr>
        <p:spPr>
          <a:xfrm>
            <a:off x="1975610" y="1889792"/>
            <a:ext cx="2520000" cy="4096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2268781" y="1565569"/>
            <a:ext cx="1998419" cy="26969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모집인</a:t>
            </a:r>
            <a:r>
              <a:rPr lang="ko-KR" altLang="en-US" dirty="0">
                <a:solidFill>
                  <a:srgbClr val="FF0000"/>
                </a:solidFill>
              </a:rPr>
              <a:t> 정보 입력</a:t>
            </a:r>
          </a:p>
        </p:txBody>
      </p:sp>
      <p:sp>
        <p:nvSpPr>
          <p:cNvPr id="11" name="사각형: 둥근 모서리 5">
            <a:extLst>
              <a:ext uri="{FF2B5EF4-FFF2-40B4-BE49-F238E27FC236}">
                <a16:creationId xmlns:a16="http://schemas.microsoft.com/office/drawing/2014/main" id="{3C221FA9-9976-4FD6-ADA9-138140413913}"/>
              </a:ext>
            </a:extLst>
          </p:cNvPr>
          <p:cNvSpPr/>
          <p:nvPr/>
        </p:nvSpPr>
        <p:spPr>
          <a:xfrm>
            <a:off x="4579759" y="1694517"/>
            <a:ext cx="150458" cy="2024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사각형: 둥근 모서리 6">
            <a:extLst>
              <a:ext uri="{FF2B5EF4-FFF2-40B4-BE49-F238E27FC236}">
                <a16:creationId xmlns:a16="http://schemas.microsoft.com/office/drawing/2014/main" id="{2793A5A9-704C-4216-8F52-459D8381C3A8}"/>
              </a:ext>
            </a:extLst>
          </p:cNvPr>
          <p:cNvSpPr/>
          <p:nvPr/>
        </p:nvSpPr>
        <p:spPr>
          <a:xfrm>
            <a:off x="7741127" y="4219988"/>
            <a:ext cx="150458" cy="20247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사각형: 둥근 모서리 7">
            <a:extLst>
              <a:ext uri="{FF2B5EF4-FFF2-40B4-BE49-F238E27FC236}">
                <a16:creationId xmlns:a16="http://schemas.microsoft.com/office/drawing/2014/main" id="{5EF311EC-18FA-44BD-8DDC-BEB53D71E1E0}"/>
              </a:ext>
            </a:extLst>
          </p:cNvPr>
          <p:cNvSpPr/>
          <p:nvPr/>
        </p:nvSpPr>
        <p:spPr>
          <a:xfrm>
            <a:off x="7914735" y="4196838"/>
            <a:ext cx="1777905" cy="26063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전체동의 체크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이용자 등록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294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1262941" y="1276009"/>
            <a:ext cx="1998419" cy="4918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모집인</a:t>
            </a:r>
            <a:r>
              <a:rPr lang="ko-KR" altLang="en-US" dirty="0">
                <a:solidFill>
                  <a:srgbClr val="FF0000"/>
                </a:solidFill>
              </a:rPr>
              <a:t> 정보 입력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B32B40A-EE0C-42E5-9EDD-358F0C203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344" y="1081753"/>
            <a:ext cx="3123042" cy="54000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이용자 등록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256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C89A6E3-CFE2-4410-94F5-41D7831944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865" y="1227287"/>
            <a:ext cx="9192000" cy="4680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5E02340-400B-4DCB-85C1-6EE7BD1A9505}"/>
              </a:ext>
            </a:extLst>
          </p:cNvPr>
          <p:cNvSpPr/>
          <p:nvPr/>
        </p:nvSpPr>
        <p:spPr>
          <a:xfrm>
            <a:off x="2036063" y="1996472"/>
            <a:ext cx="2456689" cy="3744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E02340-400B-4DCB-85C1-6EE7BD1A9505}"/>
              </a:ext>
            </a:extLst>
          </p:cNvPr>
          <p:cNvSpPr/>
          <p:nvPr/>
        </p:nvSpPr>
        <p:spPr>
          <a:xfrm>
            <a:off x="2036064" y="2642726"/>
            <a:ext cx="1682496" cy="3085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E02340-400B-4DCB-85C1-6EE7BD1A9505}"/>
              </a:ext>
            </a:extLst>
          </p:cNvPr>
          <p:cNvSpPr/>
          <p:nvPr/>
        </p:nvSpPr>
        <p:spPr>
          <a:xfrm>
            <a:off x="2036064" y="3877073"/>
            <a:ext cx="1682496" cy="2620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5E02340-400B-4DCB-85C1-6EE7BD1A9505}"/>
              </a:ext>
            </a:extLst>
          </p:cNvPr>
          <p:cNvSpPr/>
          <p:nvPr/>
        </p:nvSpPr>
        <p:spPr>
          <a:xfrm>
            <a:off x="3870960" y="5355352"/>
            <a:ext cx="1066800" cy="4053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018" y="2102339"/>
            <a:ext cx="2934338" cy="36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사용할 이메일 입력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018" y="2590020"/>
            <a:ext cx="2934338" cy="367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비밀번호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입력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0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017" y="3859065"/>
            <a:ext cx="467284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메리츠화재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~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카카오 </a:t>
            </a:r>
            <a:r>
              <a:rPr kumimoji="1" lang="ko-KR" altLang="en-US" sz="24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손보까지</a:t>
            </a:r>
            <a:endParaRPr kumimoji="1" lang="en-US" altLang="ko-KR" sz="2400" b="1" noProof="0" dirty="0" smtClean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싹 다 입력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이용자 등록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653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4966B96-0E3F-45B3-A8C1-366873A4D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65" y="1133131"/>
            <a:ext cx="9000000" cy="545186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5E02340-400B-4DCB-85C1-6EE7BD1A9505}"/>
              </a:ext>
            </a:extLst>
          </p:cNvPr>
          <p:cNvSpPr/>
          <p:nvPr/>
        </p:nvSpPr>
        <p:spPr>
          <a:xfrm>
            <a:off x="2057400" y="1524000"/>
            <a:ext cx="1615440" cy="33680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4402381" y="1496866"/>
            <a:ext cx="4817819" cy="40868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smtClean="0">
                <a:solidFill>
                  <a:srgbClr val="FF0000"/>
                </a:solidFill>
                <a:latin typeface="+mj-lt"/>
              </a:rPr>
              <a:t>싹 다 </a:t>
            </a:r>
            <a:r>
              <a:rPr lang="en-US" altLang="ko-KR" sz="4800" dirty="0" smtClean="0">
                <a:solidFill>
                  <a:srgbClr val="FF0000"/>
                </a:solidFill>
                <a:latin typeface="+mj-lt"/>
              </a:rPr>
              <a:t>!!!</a:t>
            </a: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/>
            </a:r>
            <a:br>
              <a:rPr lang="en-US" altLang="ko-KR" sz="3200" dirty="0" smtClean="0">
                <a:solidFill>
                  <a:schemeClr val="tx1"/>
                </a:solidFill>
                <a:latin typeface="+mj-lt"/>
              </a:rPr>
            </a:b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/>
            </a:r>
            <a:br>
              <a:rPr lang="en-US" altLang="ko-KR" sz="3200" dirty="0" smtClean="0">
                <a:solidFill>
                  <a:schemeClr val="tx1"/>
                </a:solidFill>
                <a:latin typeface="+mj-lt"/>
              </a:rPr>
            </a:b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>* </a:t>
            </a:r>
            <a:r>
              <a:rPr lang="ko-KR" altLang="en-US" sz="3200" dirty="0" smtClean="0">
                <a:solidFill>
                  <a:schemeClr val="tx1"/>
                </a:solidFill>
                <a:latin typeface="+mj-lt"/>
              </a:rPr>
              <a:t>비고 </a:t>
            </a: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>: </a:t>
            </a:r>
            <a:r>
              <a:rPr lang="ko-KR" altLang="en-US" sz="3200" dirty="0" smtClean="0">
                <a:solidFill>
                  <a:schemeClr val="tx1"/>
                </a:solidFill>
                <a:latin typeface="+mj-lt"/>
              </a:rPr>
              <a:t>신청하기 눌러도</a:t>
            </a: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>, </a:t>
            </a:r>
            <a:r>
              <a:rPr lang="ko-KR" altLang="en-US" sz="3200" dirty="0" smtClean="0">
                <a:solidFill>
                  <a:schemeClr val="tx1"/>
                </a:solidFill>
                <a:latin typeface="+mj-lt"/>
              </a:rPr>
              <a:t>창이 바로 안 뜸</a:t>
            </a: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>.</a:t>
            </a:r>
          </a:p>
          <a:p>
            <a:pPr algn="ctr"/>
            <a:r>
              <a:rPr lang="ko-KR" altLang="en-US" sz="3200" dirty="0" smtClean="0">
                <a:solidFill>
                  <a:srgbClr val="FF0000"/>
                </a:solidFill>
                <a:latin typeface="+mj-lt"/>
              </a:rPr>
              <a:t>싹 다 </a:t>
            </a:r>
            <a:r>
              <a:rPr lang="en-US" altLang="ko-KR" sz="3200" dirty="0" smtClean="0">
                <a:solidFill>
                  <a:srgbClr val="FF0000"/>
                </a:solidFill>
                <a:latin typeface="+mj-lt"/>
              </a:rPr>
              <a:t>~</a:t>
            </a: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ko-KR" altLang="en-US" sz="3200" dirty="0" smtClean="0">
                <a:solidFill>
                  <a:schemeClr val="tx1"/>
                </a:solidFill>
                <a:latin typeface="+mj-lt"/>
              </a:rPr>
              <a:t>한 후에 </a:t>
            </a:r>
            <a:endParaRPr lang="en-US" altLang="ko-KR" sz="3200" dirty="0" smtClea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ko-KR" altLang="en-US" sz="3200" dirty="0" err="1" smtClean="0">
                <a:solidFill>
                  <a:schemeClr val="tx1"/>
                </a:solidFill>
                <a:latin typeface="+mj-lt"/>
              </a:rPr>
              <a:t>새로고침</a:t>
            </a:r>
            <a:r>
              <a:rPr lang="ko-KR" altLang="en-US" sz="3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ko-KR" sz="2800" dirty="0" smtClean="0">
                <a:solidFill>
                  <a:schemeClr val="tx1"/>
                </a:solidFill>
                <a:latin typeface="+mj-lt"/>
              </a:rPr>
              <a:t>(F5)</a:t>
            </a: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ko-KR" altLang="en-US" sz="3200" dirty="0" smtClean="0">
                <a:solidFill>
                  <a:schemeClr val="tx1"/>
                </a:solidFill>
                <a:latin typeface="+mj-lt"/>
              </a:rPr>
              <a:t>하면 </a:t>
            </a:r>
            <a:endParaRPr lang="en-US" altLang="ko-KR" sz="3200" dirty="0" smtClean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ko-KR" altLang="en-US" sz="3200" dirty="0" smtClean="0">
                <a:solidFill>
                  <a:schemeClr val="tx1"/>
                </a:solidFill>
                <a:latin typeface="+mj-lt"/>
              </a:rPr>
              <a:t>다 완료됐다고 뜸</a:t>
            </a:r>
            <a:r>
              <a:rPr lang="en-US" altLang="ko-KR" sz="3200" dirty="0" smtClean="0">
                <a:solidFill>
                  <a:schemeClr val="tx1"/>
                </a:solidFill>
                <a:latin typeface="+mj-lt"/>
              </a:rPr>
              <a:t>.</a:t>
            </a:r>
            <a:endParaRPr lang="ko-KR" altLang="en-US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이용자 등록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705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DEFCB35-9785-49D3-B0BE-0BF7E6E4F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65" y="1301544"/>
            <a:ext cx="9000000" cy="485092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5E02340-400B-4DCB-85C1-6EE7BD1A9505}"/>
              </a:ext>
            </a:extLst>
          </p:cNvPr>
          <p:cNvSpPr/>
          <p:nvPr/>
        </p:nvSpPr>
        <p:spPr>
          <a:xfrm flipV="1">
            <a:off x="2499360" y="4572000"/>
            <a:ext cx="5318760" cy="868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4752901" y="2931583"/>
            <a:ext cx="4817819" cy="159085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smtClean="0">
                <a:solidFill>
                  <a:srgbClr val="FF0000"/>
                </a:solidFill>
                <a:latin typeface="+mj-lt"/>
              </a:rPr>
              <a:t>다 완료하면</a:t>
            </a:r>
            <a:r>
              <a:rPr lang="en-US" altLang="ko-KR" sz="4800" dirty="0" smtClean="0">
                <a:solidFill>
                  <a:srgbClr val="FF0000"/>
                </a:solidFill>
                <a:latin typeface="+mj-lt"/>
              </a:rPr>
              <a:t/>
            </a:r>
            <a:br>
              <a:rPr lang="en-US" altLang="ko-KR" sz="4800" dirty="0" smtClean="0">
                <a:solidFill>
                  <a:srgbClr val="FF0000"/>
                </a:solidFill>
                <a:latin typeface="+mj-lt"/>
              </a:rPr>
            </a:br>
            <a:r>
              <a:rPr lang="ko-KR" altLang="en-US" sz="4800" dirty="0" smtClean="0">
                <a:solidFill>
                  <a:srgbClr val="FF0000"/>
                </a:solidFill>
                <a:latin typeface="+mj-lt"/>
              </a:rPr>
              <a:t>이렇게 뜬다</a:t>
            </a:r>
            <a:r>
              <a:rPr lang="en-US" altLang="ko-KR" sz="4800" dirty="0" smtClean="0">
                <a:solidFill>
                  <a:srgbClr val="FF0000"/>
                </a:solidFill>
                <a:latin typeface="+mj-lt"/>
              </a:rPr>
              <a:t>.</a:t>
            </a:r>
            <a:endParaRPr lang="ko-KR" altLang="en-US" sz="32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이용자 등록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469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4846320" y="1496866"/>
            <a:ext cx="4739640" cy="40868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400" dirty="0" smtClean="0">
                <a:solidFill>
                  <a:schemeClr val="tx1"/>
                </a:solidFill>
                <a:latin typeface="+mj-lt"/>
              </a:rPr>
              <a:t>뭐라고 뜨던 간에</a:t>
            </a:r>
            <a:endParaRPr lang="en-US" altLang="ko-KR" sz="4400" dirty="0">
              <a:solidFill>
                <a:schemeClr val="tx1"/>
              </a:solidFill>
              <a:latin typeface="+mj-lt"/>
            </a:endParaRPr>
          </a:p>
          <a:p>
            <a:pPr algn="ctr"/>
            <a:r>
              <a:rPr lang="ko-KR" altLang="en-US" sz="4400" dirty="0" smtClean="0">
                <a:solidFill>
                  <a:srgbClr val="FF0000"/>
                </a:solidFill>
                <a:latin typeface="+mj-lt"/>
              </a:rPr>
              <a:t>고민하지 말고</a:t>
            </a:r>
            <a:r>
              <a:rPr lang="en-US" altLang="ko-KR" sz="4400" dirty="0" smtClean="0">
                <a:solidFill>
                  <a:srgbClr val="FF0000"/>
                </a:solidFill>
                <a:latin typeface="+mj-lt"/>
              </a:rPr>
              <a:t>,</a:t>
            </a:r>
          </a:p>
          <a:p>
            <a:pPr algn="ctr"/>
            <a:r>
              <a:rPr lang="ko-KR" altLang="en-US" sz="4400" dirty="0" smtClean="0">
                <a:solidFill>
                  <a:srgbClr val="FF0000"/>
                </a:solidFill>
                <a:latin typeface="+mj-lt"/>
              </a:rPr>
              <a:t>싹 다 </a:t>
            </a:r>
            <a:r>
              <a:rPr lang="ko-KR" altLang="en-US" sz="4400" dirty="0" smtClean="0">
                <a:solidFill>
                  <a:schemeClr val="tx1"/>
                </a:solidFill>
                <a:latin typeface="+mj-lt"/>
              </a:rPr>
              <a:t>돌려 줍니다</a:t>
            </a:r>
            <a:r>
              <a:rPr lang="en-US" altLang="ko-KR" sz="4400" dirty="0" smtClean="0">
                <a:solidFill>
                  <a:schemeClr val="tx1"/>
                </a:solidFill>
                <a:latin typeface="+mj-lt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47422C-8A04-40E6-89AA-BC069D228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0" y="1266548"/>
            <a:ext cx="4320000" cy="13160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728D89-94B6-4791-9826-62A4B501AA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0" y="4531908"/>
            <a:ext cx="4320000" cy="16468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9B87C4-047D-4890-89CA-C49F46B6C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0" y="2720777"/>
            <a:ext cx="4320000" cy="167297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이용자 등록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270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58865" y="1203218"/>
            <a:ext cx="9000000" cy="4865381"/>
            <a:chOff x="159798" y="243098"/>
            <a:chExt cx="9000000" cy="4865381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798" y="243098"/>
              <a:ext cx="9000000" cy="486538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C6BA27D-F547-4A25-87CB-8D99586AEB6C}"/>
                </a:ext>
              </a:extLst>
            </p:cNvPr>
            <p:cNvSpPr/>
            <p:nvPr/>
          </p:nvSpPr>
          <p:spPr>
            <a:xfrm>
              <a:off x="1983829" y="656709"/>
              <a:ext cx="612704" cy="31069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031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65" y="1132839"/>
            <a:ext cx="9000000" cy="50914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C6BA27D-F547-4A25-87CB-8D99586AEB6C}"/>
              </a:ext>
            </a:extLst>
          </p:cNvPr>
          <p:cNvSpPr/>
          <p:nvPr/>
        </p:nvSpPr>
        <p:spPr>
          <a:xfrm>
            <a:off x="1795216" y="3476109"/>
            <a:ext cx="1938584" cy="56249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4846320" y="2042160"/>
            <a:ext cx="4739640" cy="354157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dirty="0" smtClean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3200" dirty="0" smtClean="0">
                <a:solidFill>
                  <a:schemeClr val="tx1"/>
                </a:solidFill>
                <a:latin typeface="+mn-ea"/>
              </a:rPr>
              <a:t>참고 사항</a:t>
            </a:r>
            <a:r>
              <a:rPr lang="en-US" altLang="ko-KR" sz="3200" dirty="0" smtClean="0">
                <a:solidFill>
                  <a:schemeClr val="tx1"/>
                </a:solidFill>
                <a:latin typeface="+mn-ea"/>
              </a:rPr>
              <a:t>]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20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▷ 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KB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손보 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=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비교 견적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▷ </a:t>
            </a:r>
            <a:r>
              <a:rPr lang="ko-KR" altLang="en-US" sz="2400" dirty="0" err="1">
                <a:solidFill>
                  <a:schemeClr val="tx1"/>
                </a:solidFill>
                <a:latin typeface="+mn-ea"/>
              </a:rPr>
              <a:t>처리동의서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400" dirty="0" err="1" smtClean="0">
                <a:solidFill>
                  <a:schemeClr val="tx1"/>
                </a:solidFill>
                <a:latin typeface="+mn-ea"/>
              </a:rPr>
              <a:t>미전송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sz="2400" dirty="0" err="1" smtClean="0">
                <a:solidFill>
                  <a:schemeClr val="tx1"/>
                </a:solidFill>
                <a:latin typeface="+mn-ea"/>
              </a:rPr>
              <a:t>법인계약</a:t>
            </a:r>
            <a:endParaRPr lang="en-US" altLang="ko-KR" sz="2400" dirty="0" smtClean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2400" dirty="0">
                <a:solidFill>
                  <a:schemeClr val="tx1"/>
                </a:solidFill>
                <a:latin typeface="+mn-ea"/>
              </a:rPr>
              <a:t>①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비교 견적 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X, </a:t>
            </a:r>
          </a:p>
          <a:p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        가입 할 회사 정했을 때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    ②</a:t>
            </a:r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400" dirty="0" err="1" smtClean="0">
                <a:solidFill>
                  <a:schemeClr val="tx1"/>
                </a:solidFill>
                <a:latin typeface="+mn-ea"/>
              </a:rPr>
              <a:t>법인계약일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 때 </a:t>
            </a:r>
            <a:r>
              <a:rPr lang="en-US" altLang="ko-KR" sz="20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2000" dirty="0" smtClean="0">
                <a:solidFill>
                  <a:schemeClr val="tx1"/>
                </a:solidFill>
                <a:latin typeface="+mn-ea"/>
              </a:rPr>
              <a:t>비교 가능</a:t>
            </a:r>
            <a:r>
              <a:rPr lang="en-US" altLang="ko-KR" sz="2000" dirty="0" smtClean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1887781" y="4752368"/>
            <a:ext cx="2028899" cy="7581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 smtClean="0">
                <a:solidFill>
                  <a:srgbClr val="FF0000"/>
                </a:solidFill>
                <a:latin typeface="+mn-ea"/>
              </a:rPr>
              <a:t>택</a:t>
            </a:r>
            <a:r>
              <a:rPr lang="ko-KR" altLang="en-US" sz="4800" dirty="0" smtClean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4800" dirty="0" smtClean="0">
                <a:solidFill>
                  <a:srgbClr val="FF0000"/>
                </a:solidFill>
                <a:latin typeface="+mn-ea"/>
              </a:rPr>
              <a:t>1 !! </a:t>
            </a:r>
            <a:endParaRPr lang="ko-KR" altLang="en-US" sz="3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화살표: 오른쪽 12">
            <a:extLst>
              <a:ext uri="{FF2B5EF4-FFF2-40B4-BE49-F238E27FC236}">
                <a16:creationId xmlns:a16="http://schemas.microsoft.com/office/drawing/2014/main" id="{23106B4F-A732-49E1-99D5-07FBDFDDA4FC}"/>
              </a:ext>
            </a:extLst>
          </p:cNvPr>
          <p:cNvSpPr/>
          <p:nvPr/>
        </p:nvSpPr>
        <p:spPr>
          <a:xfrm rot="16521409">
            <a:off x="2436968" y="4220141"/>
            <a:ext cx="747643" cy="350687"/>
          </a:xfrm>
          <a:prstGeom prst="rightArrow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41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458865" y="1162929"/>
            <a:ext cx="9000000" cy="5400000"/>
            <a:chOff x="390891" y="187569"/>
            <a:chExt cx="11363325" cy="6447693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0891" y="187569"/>
              <a:ext cx="11363325" cy="6447693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D7B3550-4686-44FD-984E-DBFD7F2EA7EE}"/>
                </a:ext>
              </a:extLst>
            </p:cNvPr>
            <p:cNvSpPr/>
            <p:nvPr/>
          </p:nvSpPr>
          <p:spPr>
            <a:xfrm>
              <a:off x="7442786" y="2535311"/>
              <a:ext cx="1975534" cy="3429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9C7EAF1-D94C-41F0-B49D-B976436E0079}"/>
                </a:ext>
              </a:extLst>
            </p:cNvPr>
            <p:cNvSpPr/>
            <p:nvPr/>
          </p:nvSpPr>
          <p:spPr>
            <a:xfrm>
              <a:off x="2352598" y="3216422"/>
              <a:ext cx="7370522" cy="2571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6595E7C9-4C63-4B8F-BD0D-C660E8495481}"/>
                </a:ext>
              </a:extLst>
            </p:cNvPr>
            <p:cNvSpPr/>
            <p:nvPr/>
          </p:nvSpPr>
          <p:spPr>
            <a:xfrm>
              <a:off x="2285169" y="3008718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2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BEAAD7-6118-4618-BDB1-B31B65BBE2BB}"/>
                </a:ext>
              </a:extLst>
            </p:cNvPr>
            <p:cNvSpPr/>
            <p:nvPr/>
          </p:nvSpPr>
          <p:spPr>
            <a:xfrm>
              <a:off x="2352597" y="3514206"/>
              <a:ext cx="3812177" cy="27625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사각형: 둥근 모서리 12">
              <a:extLst>
                <a:ext uri="{FF2B5EF4-FFF2-40B4-BE49-F238E27FC236}">
                  <a16:creationId xmlns:a16="http://schemas.microsoft.com/office/drawing/2014/main" id="{A5A0D3B8-1A38-4A4A-92A9-CC63BAE4863A}"/>
                </a:ext>
              </a:extLst>
            </p:cNvPr>
            <p:cNvSpPr/>
            <p:nvPr/>
          </p:nvSpPr>
          <p:spPr>
            <a:xfrm>
              <a:off x="2267242" y="3409293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3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34AD431-80D8-441D-92DB-6D2CA332DADD}"/>
                </a:ext>
              </a:extLst>
            </p:cNvPr>
            <p:cNvSpPr/>
            <p:nvPr/>
          </p:nvSpPr>
          <p:spPr>
            <a:xfrm>
              <a:off x="2311956" y="4764668"/>
              <a:ext cx="807164" cy="27625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602A916-A44F-43B8-A558-2CAF23D6F713}"/>
                </a:ext>
              </a:extLst>
            </p:cNvPr>
            <p:cNvSpPr/>
            <p:nvPr/>
          </p:nvSpPr>
          <p:spPr>
            <a:xfrm>
              <a:off x="2345222" y="5151894"/>
              <a:ext cx="8901898" cy="51314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사각형: 둥근 모서리 16">
              <a:extLst>
                <a:ext uri="{FF2B5EF4-FFF2-40B4-BE49-F238E27FC236}">
                  <a16:creationId xmlns:a16="http://schemas.microsoft.com/office/drawing/2014/main" id="{546CECA3-9890-4335-AC65-4ED63311725F}"/>
                </a:ext>
              </a:extLst>
            </p:cNvPr>
            <p:cNvSpPr/>
            <p:nvPr/>
          </p:nvSpPr>
          <p:spPr>
            <a:xfrm>
              <a:off x="2240530" y="5051502"/>
              <a:ext cx="190103" cy="25201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7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2BEAAD7-6118-4618-BDB1-B31B65BBE2BB}"/>
                </a:ext>
              </a:extLst>
            </p:cNvPr>
            <p:cNvSpPr/>
            <p:nvPr/>
          </p:nvSpPr>
          <p:spPr>
            <a:xfrm>
              <a:off x="2362757" y="3859646"/>
              <a:ext cx="3812177" cy="27625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사각형: 둥근 모서리 12">
              <a:extLst>
                <a:ext uri="{FF2B5EF4-FFF2-40B4-BE49-F238E27FC236}">
                  <a16:creationId xmlns:a16="http://schemas.microsoft.com/office/drawing/2014/main" id="{A5A0D3B8-1A38-4A4A-92A9-CC63BAE4863A}"/>
                </a:ext>
              </a:extLst>
            </p:cNvPr>
            <p:cNvSpPr/>
            <p:nvPr/>
          </p:nvSpPr>
          <p:spPr>
            <a:xfrm>
              <a:off x="2277402" y="3754733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rgbClr val="FF0000"/>
                  </a:solidFill>
                </a:rPr>
                <a:t>4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2BEAAD7-6118-4618-BDB1-B31B65BBE2BB}"/>
                </a:ext>
              </a:extLst>
            </p:cNvPr>
            <p:cNvSpPr/>
            <p:nvPr/>
          </p:nvSpPr>
          <p:spPr>
            <a:xfrm>
              <a:off x="2362757" y="4184765"/>
              <a:ext cx="5236923" cy="54566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사각형: 둥근 모서리 12">
              <a:extLst>
                <a:ext uri="{FF2B5EF4-FFF2-40B4-BE49-F238E27FC236}">
                  <a16:creationId xmlns:a16="http://schemas.microsoft.com/office/drawing/2014/main" id="{A5A0D3B8-1A38-4A4A-92A9-CC63BAE4863A}"/>
                </a:ext>
              </a:extLst>
            </p:cNvPr>
            <p:cNvSpPr/>
            <p:nvPr/>
          </p:nvSpPr>
          <p:spPr>
            <a:xfrm>
              <a:off x="2277402" y="4079853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5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3" name="사각형: 둥근 모서리 14">
              <a:extLst>
                <a:ext uri="{FF2B5EF4-FFF2-40B4-BE49-F238E27FC236}">
                  <a16:creationId xmlns:a16="http://schemas.microsoft.com/office/drawing/2014/main" id="{77AD0BA0-8EE8-40ED-A0E1-AD6E80E1E825}"/>
                </a:ext>
              </a:extLst>
            </p:cNvPr>
            <p:cNvSpPr/>
            <p:nvPr/>
          </p:nvSpPr>
          <p:spPr>
            <a:xfrm>
              <a:off x="2244529" y="4606406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6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34AD431-80D8-441D-92DB-6D2CA332DADD}"/>
                </a:ext>
              </a:extLst>
            </p:cNvPr>
            <p:cNvSpPr/>
            <p:nvPr/>
          </p:nvSpPr>
          <p:spPr>
            <a:xfrm>
              <a:off x="9613556" y="5799990"/>
              <a:ext cx="988854" cy="2980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사각형: 둥근 모서리 21">
              <a:extLst>
                <a:ext uri="{FF2B5EF4-FFF2-40B4-BE49-F238E27FC236}">
                  <a16:creationId xmlns:a16="http://schemas.microsoft.com/office/drawing/2014/main" id="{12C9040D-6ABF-42A4-B236-C1C2610E283B}"/>
                </a:ext>
              </a:extLst>
            </p:cNvPr>
            <p:cNvSpPr/>
            <p:nvPr/>
          </p:nvSpPr>
          <p:spPr>
            <a:xfrm>
              <a:off x="9508929" y="5736876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8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26" name="사각형: 둥근 모서리 10">
              <a:extLst>
                <a:ext uri="{FF2B5EF4-FFF2-40B4-BE49-F238E27FC236}">
                  <a16:creationId xmlns:a16="http://schemas.microsoft.com/office/drawing/2014/main" id="{6595E7C9-4C63-4B8F-BD0D-C660E8495481}"/>
                </a:ext>
              </a:extLst>
            </p:cNvPr>
            <p:cNvSpPr/>
            <p:nvPr/>
          </p:nvSpPr>
          <p:spPr>
            <a:xfrm>
              <a:off x="7349734" y="2400357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1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388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458865" y="1189563"/>
            <a:ext cx="9000000" cy="5400000"/>
            <a:chOff x="281354" y="336123"/>
            <a:chExt cx="11658600" cy="6908739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354" y="336123"/>
              <a:ext cx="11658600" cy="6908739"/>
            </a:xfrm>
            <a:prstGeom prst="rect">
              <a:avLst/>
            </a:prstGeom>
          </p:spPr>
        </p:pic>
        <p:sp>
          <p:nvSpPr>
            <p:cNvPr id="25" name="직사각형 24"/>
            <p:cNvSpPr/>
            <p:nvPr/>
          </p:nvSpPr>
          <p:spPr>
            <a:xfrm>
              <a:off x="8300621" y="3746102"/>
              <a:ext cx="532661" cy="10680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155746" y="4670026"/>
              <a:ext cx="777954" cy="11152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34AD431-80D8-441D-92DB-6D2CA332DADD}"/>
                </a:ext>
              </a:extLst>
            </p:cNvPr>
            <p:cNvSpPr/>
            <p:nvPr/>
          </p:nvSpPr>
          <p:spPr>
            <a:xfrm>
              <a:off x="1511856" y="4945643"/>
              <a:ext cx="807164" cy="27625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화살표: 오른쪽 12">
              <a:extLst>
                <a:ext uri="{FF2B5EF4-FFF2-40B4-BE49-F238E27FC236}">
                  <a16:creationId xmlns:a16="http://schemas.microsoft.com/office/drawing/2014/main" id="{23106B4F-A732-49E1-99D5-07FBDFDDA4FC}"/>
                </a:ext>
              </a:extLst>
            </p:cNvPr>
            <p:cNvSpPr/>
            <p:nvPr/>
          </p:nvSpPr>
          <p:spPr>
            <a:xfrm rot="21403507" flipV="1">
              <a:off x="2531943" y="4736925"/>
              <a:ext cx="2981100" cy="510518"/>
            </a:xfrm>
            <a:prstGeom prst="rightArrow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9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4575878" y="4195482"/>
            <a:ext cx="4062513" cy="138824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전 보험사 선택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]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▷ 이전 담보 그대로 하고 싶을 경우에만</a:t>
            </a:r>
            <a:endParaRPr lang="en-US" altLang="ko-KR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이전 가입한 보험사 </a:t>
            </a:r>
            <a:endParaRPr lang="en-US" altLang="ko-KR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ko-KR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   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가입설계 동의 및 </a:t>
            </a:r>
            <a:r>
              <a:rPr lang="ko-KR" altLang="en-US" dirty="0" err="1" smtClean="0">
                <a:solidFill>
                  <a:srgbClr val="FF0000"/>
                </a:solidFill>
                <a:latin typeface="+mn-ea"/>
              </a:rPr>
              <a:t>고객등록</a:t>
            </a:r>
            <a:r>
              <a:rPr lang="ko-KR" altLang="en-US" dirty="0" smtClean="0">
                <a:solidFill>
                  <a:srgbClr val="FF0000"/>
                </a:solidFill>
                <a:latin typeface="+mn-ea"/>
              </a:rPr>
              <a:t> 必 </a:t>
            </a:r>
            <a:r>
              <a:rPr lang="en-US" altLang="ko-KR" dirty="0" smtClean="0">
                <a:solidFill>
                  <a:srgbClr val="FF0000"/>
                </a:solidFill>
                <a:latin typeface="+mn-ea"/>
              </a:rPr>
              <a:t>!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113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458865" y="1189563"/>
            <a:ext cx="9000000" cy="5400000"/>
            <a:chOff x="281354" y="336123"/>
            <a:chExt cx="11658600" cy="6908739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354" y="336123"/>
              <a:ext cx="11658600" cy="6908739"/>
            </a:xfrm>
            <a:prstGeom prst="rect">
              <a:avLst/>
            </a:prstGeom>
          </p:spPr>
        </p:pic>
        <p:sp>
          <p:nvSpPr>
            <p:cNvPr id="25" name="직사각형 24"/>
            <p:cNvSpPr/>
            <p:nvPr/>
          </p:nvSpPr>
          <p:spPr>
            <a:xfrm>
              <a:off x="8300621" y="3746102"/>
              <a:ext cx="532661" cy="10680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155746" y="4670026"/>
              <a:ext cx="777954" cy="11152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34AD431-80D8-441D-92DB-6D2CA332DADD}"/>
                </a:ext>
              </a:extLst>
            </p:cNvPr>
            <p:cNvSpPr/>
            <p:nvPr/>
          </p:nvSpPr>
          <p:spPr>
            <a:xfrm>
              <a:off x="1522937" y="5292126"/>
              <a:ext cx="4217019" cy="57187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화살표: 오른쪽 12">
              <a:extLst>
                <a:ext uri="{FF2B5EF4-FFF2-40B4-BE49-F238E27FC236}">
                  <a16:creationId xmlns:a16="http://schemas.microsoft.com/office/drawing/2014/main" id="{23106B4F-A732-49E1-99D5-07FBDFDDA4FC}"/>
                </a:ext>
              </a:extLst>
            </p:cNvPr>
            <p:cNvSpPr/>
            <p:nvPr/>
          </p:nvSpPr>
          <p:spPr>
            <a:xfrm rot="21403507" flipV="1">
              <a:off x="5882974" y="5277991"/>
              <a:ext cx="895589" cy="494009"/>
            </a:xfrm>
            <a:prstGeom prst="rightArrow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9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5530651" y="4145279"/>
            <a:ext cx="3928214" cy="14384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 smtClean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2000" dirty="0" smtClean="0">
                <a:solidFill>
                  <a:schemeClr val="tx1"/>
                </a:solidFill>
                <a:latin typeface="+mn-ea"/>
              </a:rPr>
              <a:t>메모</a:t>
            </a:r>
            <a:r>
              <a:rPr lang="en-US" altLang="ko-KR" sz="2000" dirty="0" smtClean="0">
                <a:solidFill>
                  <a:schemeClr val="tx1"/>
                </a:solidFill>
                <a:latin typeface="+mn-ea"/>
              </a:rPr>
              <a:t>]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▷ 운전자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범위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err="1" smtClean="0">
                <a:solidFill>
                  <a:schemeClr val="tx1"/>
                </a:solidFill>
                <a:latin typeface="+mn-ea"/>
              </a:rPr>
              <a:t>최소연령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err="1" smtClean="0">
                <a:solidFill>
                  <a:schemeClr val="tx1"/>
                </a:solidFill>
                <a:latin typeface="+mn-ea"/>
              </a:rPr>
              <a:t>가입경력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 대상자</a:t>
            </a:r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▷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가입 담보 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대물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대인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자상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자손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err="1" smtClean="0">
                <a:solidFill>
                  <a:schemeClr val="tx1"/>
                </a:solidFill>
                <a:latin typeface="+mn-ea"/>
              </a:rPr>
              <a:t>자차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                  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무보험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,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긴급출동</a:t>
            </a:r>
            <a:endParaRPr lang="en-US" altLang="ko-KR" sz="1600" dirty="0" smtClean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▷ 블랙박스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마일리지</a:t>
            </a:r>
            <a:r>
              <a:rPr lang="en-US" altLang="ko-KR" sz="16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+mn-ea"/>
              </a:rPr>
              <a:t>기타 차량 옵션</a:t>
            </a:r>
            <a:endParaRPr lang="en-US" altLang="ko-KR" sz="1600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820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458865" y="1189563"/>
            <a:ext cx="9000000" cy="5400000"/>
            <a:chOff x="281354" y="336123"/>
            <a:chExt cx="11658600" cy="6908739"/>
          </a:xfrm>
        </p:grpSpPr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354" y="336123"/>
              <a:ext cx="11658600" cy="6908739"/>
            </a:xfrm>
            <a:prstGeom prst="rect">
              <a:avLst/>
            </a:prstGeom>
          </p:spPr>
        </p:pic>
        <p:sp>
          <p:nvSpPr>
            <p:cNvPr id="25" name="직사각형 24"/>
            <p:cNvSpPr/>
            <p:nvPr/>
          </p:nvSpPr>
          <p:spPr>
            <a:xfrm>
              <a:off x="8300621" y="3746102"/>
              <a:ext cx="532661" cy="10680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155746" y="4670026"/>
              <a:ext cx="777954" cy="11152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34AD431-80D8-441D-92DB-6D2CA332DADD}"/>
                </a:ext>
              </a:extLst>
            </p:cNvPr>
            <p:cNvSpPr/>
            <p:nvPr/>
          </p:nvSpPr>
          <p:spPr>
            <a:xfrm>
              <a:off x="10471407" y="5880944"/>
              <a:ext cx="756949" cy="46248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2333999" y="2179823"/>
            <a:ext cx="5249731" cy="260785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견적 요청 완료 후</a:t>
            </a:r>
            <a:r>
              <a:rPr lang="en-US" altLang="ko-KR" sz="28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본인 대기 순번 표기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※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신차 출고 등 </a:t>
            </a:r>
            <a:r>
              <a:rPr lang="ko-KR" altLang="en-US" sz="2400" dirty="0" smtClean="0">
                <a:solidFill>
                  <a:srgbClr val="FF0000"/>
                </a:solidFill>
                <a:latin typeface="+mn-ea"/>
              </a:rPr>
              <a:t>급박한 건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에 대해서는 </a:t>
            </a:r>
            <a:endParaRPr lang="en-US" altLang="ko-KR" sz="2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자동차비교견적 파트 문의 필요 </a:t>
            </a:r>
            <a:r>
              <a:rPr lang="en-US" altLang="ko-KR" sz="2000" dirty="0" smtClean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2000" dirty="0" smtClean="0">
                <a:solidFill>
                  <a:schemeClr val="tx1"/>
                </a:solidFill>
                <a:latin typeface="+mn-ea"/>
              </a:rPr>
              <a:t>전화</a:t>
            </a:r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  </a:t>
            </a:r>
            <a:endParaRPr lang="en-US" altLang="ko-KR" dirty="0" smtClea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322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82" y="1179876"/>
            <a:ext cx="9197965" cy="504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F6D8591-3AD8-42AE-A6CF-B98B2E42F7D3}"/>
              </a:ext>
            </a:extLst>
          </p:cNvPr>
          <p:cNvSpPr/>
          <p:nvPr/>
        </p:nvSpPr>
        <p:spPr>
          <a:xfrm>
            <a:off x="2930470" y="1615439"/>
            <a:ext cx="630311" cy="3471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9">
            <a:extLst>
              <a:ext uri="{FF2B5EF4-FFF2-40B4-BE49-F238E27FC236}">
                <a16:creationId xmlns:a16="http://schemas.microsoft.com/office/drawing/2014/main" id="{6EA52CD0-449D-4280-AF0A-A454F5601B9F}"/>
              </a:ext>
            </a:extLst>
          </p:cNvPr>
          <p:cNvSpPr/>
          <p:nvPr/>
        </p:nvSpPr>
        <p:spPr>
          <a:xfrm>
            <a:off x="1345490" y="4864996"/>
            <a:ext cx="7551868" cy="64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견적 요청 중인 사항 </a:t>
            </a:r>
            <a:r>
              <a:rPr lang="ko-KR" altLang="en-US" dirty="0">
                <a:solidFill>
                  <a:srgbClr val="FF0000"/>
                </a:solidFill>
              </a:rPr>
              <a:t>클릭 </a:t>
            </a:r>
            <a:r>
              <a:rPr lang="en-US" altLang="ko-KR" dirty="0" smtClean="0">
                <a:solidFill>
                  <a:srgbClr val="FF0000"/>
                </a:solidFill>
              </a:rPr>
              <a:t>!!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02A916-A44F-43B8-A558-2CAF23D6F713}"/>
              </a:ext>
            </a:extLst>
          </p:cNvPr>
          <p:cNvSpPr/>
          <p:nvPr/>
        </p:nvSpPr>
        <p:spPr>
          <a:xfrm flipV="1">
            <a:off x="1344707" y="4528208"/>
            <a:ext cx="7551868" cy="310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첨부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614160" y="4571612"/>
            <a:ext cx="629920" cy="23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5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첨부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21" y="1128072"/>
            <a:ext cx="8617888" cy="54000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4AD431-80D8-441D-92DB-6D2CA332DADD}"/>
              </a:ext>
            </a:extLst>
          </p:cNvPr>
          <p:cNvSpPr/>
          <p:nvPr/>
        </p:nvSpPr>
        <p:spPr>
          <a:xfrm>
            <a:off x="1111602" y="6082299"/>
            <a:ext cx="584336" cy="3185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71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18" y="1107440"/>
            <a:ext cx="5751173" cy="54000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C34AD431-80D8-441D-92DB-6D2CA332DADD}"/>
              </a:ext>
            </a:extLst>
          </p:cNvPr>
          <p:cNvSpPr/>
          <p:nvPr/>
        </p:nvSpPr>
        <p:spPr>
          <a:xfrm>
            <a:off x="500956" y="3470581"/>
            <a:ext cx="5371523" cy="4410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첨부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1734559" y="4140811"/>
            <a:ext cx="3345441" cy="161632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FF0000"/>
                </a:solidFill>
                <a:latin typeface="+mn-ea"/>
              </a:rPr>
              <a:t>할인 적용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 하려는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항목</a:t>
            </a:r>
            <a:r>
              <a:rPr lang="en-US" altLang="ko-KR" sz="28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800" dirty="0" smtClean="0">
                <a:solidFill>
                  <a:srgbClr val="FF0000"/>
                </a:solidFill>
                <a:latin typeface="+mn-ea"/>
              </a:rPr>
              <a:t>클릭 </a:t>
            </a:r>
            <a:r>
              <a:rPr lang="en-US" altLang="ko-KR" sz="2800" dirty="0" smtClean="0">
                <a:solidFill>
                  <a:srgbClr val="FF0000"/>
                </a:solidFill>
                <a:latin typeface="+mn-ea"/>
              </a:rPr>
              <a:t>!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3654828" y="1107440"/>
            <a:ext cx="5629021" cy="5284271"/>
            <a:chOff x="3654828" y="1107440"/>
            <a:chExt cx="5629021" cy="528427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4828" y="1107440"/>
              <a:ext cx="5629021" cy="528427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34AD431-80D8-441D-92DB-6D2CA332DADD}"/>
                </a:ext>
              </a:extLst>
            </p:cNvPr>
            <p:cNvSpPr/>
            <p:nvPr/>
          </p:nvSpPr>
          <p:spPr>
            <a:xfrm>
              <a:off x="6469338" y="4059861"/>
              <a:ext cx="2502540" cy="162017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34AD431-80D8-441D-92DB-6D2CA332DADD}"/>
                </a:ext>
              </a:extLst>
            </p:cNvPr>
            <p:cNvSpPr/>
            <p:nvPr/>
          </p:nvSpPr>
          <p:spPr>
            <a:xfrm>
              <a:off x="8265438" y="1617875"/>
              <a:ext cx="738714" cy="31850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0693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파일 첨부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65" y="1781484"/>
            <a:ext cx="9000000" cy="38928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473200" y="2164080"/>
            <a:ext cx="1808480" cy="13208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solidFill>
                  <a:schemeClr val="tx1"/>
                </a:solidFill>
              </a:rPr>
              <a:t>000</a:t>
            </a:r>
            <a:r>
              <a:rPr lang="ko-KR" altLang="en-US" sz="1050" dirty="0" smtClean="0">
                <a:solidFill>
                  <a:schemeClr val="tx1"/>
                </a:solidFill>
              </a:rPr>
              <a:t>하 </a:t>
            </a:r>
            <a:r>
              <a:rPr lang="en-US" altLang="ko-KR" sz="1050" dirty="0" smtClean="0">
                <a:solidFill>
                  <a:schemeClr val="tx1"/>
                </a:solidFill>
              </a:rPr>
              <a:t>0000 </a:t>
            </a:r>
            <a:r>
              <a:rPr lang="ko-KR" altLang="en-US" sz="1050" dirty="0" smtClean="0">
                <a:solidFill>
                  <a:schemeClr val="tx1"/>
                </a:solidFill>
              </a:rPr>
              <a:t>블랙박스</a:t>
            </a:r>
            <a:r>
              <a:rPr lang="en-US" altLang="ko-KR" sz="1050" dirty="0" smtClean="0">
                <a:solidFill>
                  <a:schemeClr val="tx1"/>
                </a:solidFill>
              </a:rPr>
              <a:t>.jpg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4AD431-80D8-441D-92DB-6D2CA332DADD}"/>
              </a:ext>
            </a:extLst>
          </p:cNvPr>
          <p:cNvSpPr/>
          <p:nvPr/>
        </p:nvSpPr>
        <p:spPr>
          <a:xfrm>
            <a:off x="1605280" y="2128520"/>
            <a:ext cx="1548000" cy="216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4AD431-80D8-441D-92DB-6D2CA332DADD}"/>
              </a:ext>
            </a:extLst>
          </p:cNvPr>
          <p:cNvSpPr/>
          <p:nvPr/>
        </p:nvSpPr>
        <p:spPr>
          <a:xfrm>
            <a:off x="7603842" y="4690379"/>
            <a:ext cx="584336" cy="3185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53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82" y="1179876"/>
            <a:ext cx="9197965" cy="5040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F6D8591-3AD8-42AE-A6CF-B98B2E42F7D3}"/>
              </a:ext>
            </a:extLst>
          </p:cNvPr>
          <p:cNvSpPr/>
          <p:nvPr/>
        </p:nvSpPr>
        <p:spPr>
          <a:xfrm>
            <a:off x="2930470" y="1615439"/>
            <a:ext cx="630311" cy="3471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9">
            <a:extLst>
              <a:ext uri="{FF2B5EF4-FFF2-40B4-BE49-F238E27FC236}">
                <a16:creationId xmlns:a16="http://schemas.microsoft.com/office/drawing/2014/main" id="{6EA52CD0-449D-4280-AF0A-A454F5601B9F}"/>
              </a:ext>
            </a:extLst>
          </p:cNvPr>
          <p:cNvSpPr/>
          <p:nvPr/>
        </p:nvSpPr>
        <p:spPr>
          <a:xfrm>
            <a:off x="1344707" y="4532261"/>
            <a:ext cx="7551868" cy="648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상담</a:t>
            </a:r>
            <a:r>
              <a:rPr lang="en-US" altLang="ko-KR" dirty="0">
                <a:solidFill>
                  <a:srgbClr val="FF0000"/>
                </a:solidFill>
              </a:rPr>
              <a:t>_</a:t>
            </a:r>
            <a:r>
              <a:rPr lang="ko-KR" altLang="en-US" dirty="0">
                <a:solidFill>
                  <a:srgbClr val="FF0000"/>
                </a:solidFill>
              </a:rPr>
              <a:t>견적완료 클릭 </a:t>
            </a:r>
            <a:r>
              <a:rPr lang="en-US" altLang="ko-KR" dirty="0" smtClean="0">
                <a:solidFill>
                  <a:srgbClr val="FF0000"/>
                </a:solidFill>
              </a:rPr>
              <a:t>!!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02A916-A44F-43B8-A558-2CAF23D6F713}"/>
              </a:ext>
            </a:extLst>
          </p:cNvPr>
          <p:cNvSpPr/>
          <p:nvPr/>
        </p:nvSpPr>
        <p:spPr>
          <a:xfrm flipV="1">
            <a:off x="1344707" y="5229248"/>
            <a:ext cx="7551868" cy="3109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른쪽으로 구부러진 화살표 8"/>
          <p:cNvSpPr/>
          <p:nvPr/>
        </p:nvSpPr>
        <p:spPr>
          <a:xfrm rot="10329000">
            <a:off x="8993197" y="4486261"/>
            <a:ext cx="516422" cy="855889"/>
          </a:xfrm>
          <a:prstGeom prst="curved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694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458865" y="1219199"/>
            <a:ext cx="9000000" cy="5400000"/>
            <a:chOff x="0" y="441959"/>
            <a:chExt cx="12192000" cy="664464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41959"/>
              <a:ext cx="12192000" cy="664464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02A916-A44F-43B8-A558-2CAF23D6F713}"/>
                </a:ext>
              </a:extLst>
            </p:cNvPr>
            <p:cNvSpPr/>
            <p:nvPr/>
          </p:nvSpPr>
          <p:spPr>
            <a:xfrm>
              <a:off x="823127" y="3220657"/>
              <a:ext cx="959953" cy="51314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9">
              <a:extLst>
                <a:ext uri="{FF2B5EF4-FFF2-40B4-BE49-F238E27FC236}">
                  <a16:creationId xmlns:a16="http://schemas.microsoft.com/office/drawing/2014/main" id="{6EA52CD0-449D-4280-AF0A-A454F5601B9F}"/>
                </a:ext>
              </a:extLst>
            </p:cNvPr>
            <p:cNvSpPr/>
            <p:nvPr/>
          </p:nvSpPr>
          <p:spPr>
            <a:xfrm>
              <a:off x="282743" y="2127406"/>
              <a:ext cx="3755858" cy="89513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800" dirty="0" smtClean="0">
                  <a:solidFill>
                    <a:srgbClr val="FF0000"/>
                  </a:solidFill>
                </a:rPr>
                <a:t>보험료 산출 클릭</a:t>
              </a:r>
              <a:r>
                <a:rPr lang="en-US" altLang="ko-KR" sz="2800" dirty="0" smtClean="0">
                  <a:solidFill>
                    <a:srgbClr val="FF0000"/>
                  </a:solidFill>
                </a:rPr>
                <a:t>!</a:t>
              </a:r>
              <a:endParaRPr lang="en-US" altLang="ko-KR" sz="2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242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458865" y="1219199"/>
            <a:ext cx="9000000" cy="5400000"/>
            <a:chOff x="0" y="441959"/>
            <a:chExt cx="12192000" cy="664464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41959"/>
              <a:ext cx="12192000" cy="664464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02A916-A44F-43B8-A558-2CAF23D6F713}"/>
                </a:ext>
              </a:extLst>
            </p:cNvPr>
            <p:cNvSpPr/>
            <p:nvPr/>
          </p:nvSpPr>
          <p:spPr>
            <a:xfrm>
              <a:off x="1450982" y="3635490"/>
              <a:ext cx="959953" cy="25867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사각형: 둥근 모서리 4">
            <a:extLst>
              <a:ext uri="{FF2B5EF4-FFF2-40B4-BE49-F238E27FC236}">
                <a16:creationId xmlns:a16="http://schemas.microsoft.com/office/drawing/2014/main" id="{9B89BEE4-9799-4EB4-8960-A03BD5E3F180}"/>
              </a:ext>
            </a:extLst>
          </p:cNvPr>
          <p:cNvSpPr/>
          <p:nvPr/>
        </p:nvSpPr>
        <p:spPr>
          <a:xfrm>
            <a:off x="3113039" y="4141701"/>
            <a:ext cx="6206326" cy="158269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보험사별 가격 비교 후 마음에 드는 보험사 선택 </a:t>
            </a:r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! </a:t>
            </a:r>
          </a:p>
          <a:p>
            <a:pPr algn="ctr"/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삼성화재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가 </a:t>
            </a:r>
            <a:r>
              <a:rPr lang="ko-KR" altLang="en-US" sz="2400" dirty="0">
                <a:solidFill>
                  <a:schemeClr val="tx1"/>
                </a:solidFill>
                <a:highlight>
                  <a:srgbClr val="FFFF00"/>
                </a:highlight>
              </a:rPr>
              <a:t>마음에 쏙 든다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</a:rPr>
              <a:t>.</a:t>
            </a:r>
            <a:endParaRPr lang="en-US" altLang="ko-KR" sz="800" dirty="0">
              <a:solidFill>
                <a:srgbClr val="FF0000"/>
              </a:solidFill>
            </a:endParaRPr>
          </a:p>
          <a:p>
            <a:pPr algn="ctr"/>
            <a:r>
              <a:rPr lang="en-US" altLang="ko-KR" sz="2400" dirty="0" smtClean="0">
                <a:solidFill>
                  <a:schemeClr val="tx1"/>
                </a:solidFill>
                <a:latin typeface="+mn-ea"/>
              </a:rPr>
              <a:t>→ </a:t>
            </a:r>
            <a:r>
              <a:rPr lang="ko-KR" altLang="en-US" sz="2400" dirty="0" smtClean="0">
                <a:solidFill>
                  <a:schemeClr val="tx1"/>
                </a:solidFill>
                <a:latin typeface="+mn-ea"/>
              </a:rPr>
              <a:t>삼성화재 </a:t>
            </a:r>
            <a:r>
              <a:rPr lang="ko-KR" altLang="en-US" sz="2400" dirty="0" smtClean="0">
                <a:solidFill>
                  <a:srgbClr val="FF0000"/>
                </a:solidFill>
                <a:latin typeface="+mn-ea"/>
              </a:rPr>
              <a:t>가입설계 동의 및 </a:t>
            </a:r>
            <a:r>
              <a:rPr lang="ko-KR" altLang="en-US" sz="2400" dirty="0" err="1" smtClean="0">
                <a:solidFill>
                  <a:srgbClr val="FF0000"/>
                </a:solidFill>
                <a:latin typeface="+mn-ea"/>
              </a:rPr>
              <a:t>고객등록</a:t>
            </a:r>
            <a:r>
              <a:rPr lang="ko-KR" altLang="en-US" sz="24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2400" dirty="0" smtClean="0">
                <a:solidFill>
                  <a:srgbClr val="FF0000"/>
                </a:solidFill>
                <a:latin typeface="+mn-ea"/>
              </a:rPr>
              <a:t>!!</a:t>
            </a:r>
            <a:endParaRPr lang="en-US" altLang="ko-KR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화살표: 오른쪽 12">
            <a:extLst>
              <a:ext uri="{FF2B5EF4-FFF2-40B4-BE49-F238E27FC236}">
                <a16:creationId xmlns:a16="http://schemas.microsoft.com/office/drawing/2014/main" id="{23106B4F-A732-49E1-99D5-07FBDFDDA4FC}"/>
              </a:ext>
            </a:extLst>
          </p:cNvPr>
          <p:cNvSpPr/>
          <p:nvPr/>
        </p:nvSpPr>
        <p:spPr>
          <a:xfrm flipV="1">
            <a:off x="2347789" y="4677789"/>
            <a:ext cx="681103" cy="510518"/>
          </a:xfrm>
          <a:prstGeom prst="rightArrow">
            <a:avLst/>
          </a:prstGeom>
          <a:solidFill>
            <a:srgbClr val="FF00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11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458865" y="1148862"/>
            <a:ext cx="9010193" cy="5400000"/>
            <a:chOff x="0" y="304800"/>
            <a:chExt cx="12205809" cy="623667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04800"/>
              <a:ext cx="12192001" cy="623667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02A916-A44F-43B8-A558-2CAF23D6F713}"/>
                </a:ext>
              </a:extLst>
            </p:cNvPr>
            <p:cNvSpPr/>
            <p:nvPr/>
          </p:nvSpPr>
          <p:spPr>
            <a:xfrm>
              <a:off x="8219350" y="2442255"/>
              <a:ext cx="1028822" cy="4002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602A916-A44F-43B8-A558-2CAF23D6F713}"/>
                </a:ext>
              </a:extLst>
            </p:cNvPr>
            <p:cNvSpPr/>
            <p:nvPr/>
          </p:nvSpPr>
          <p:spPr>
            <a:xfrm>
              <a:off x="1111169" y="2362936"/>
              <a:ext cx="2176041" cy="4166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사각형: 둥근 모서리 10">
              <a:extLst>
                <a:ext uri="{FF2B5EF4-FFF2-40B4-BE49-F238E27FC236}">
                  <a16:creationId xmlns:a16="http://schemas.microsoft.com/office/drawing/2014/main" id="{6595E7C9-4C63-4B8F-BD0D-C660E8495481}"/>
                </a:ext>
              </a:extLst>
            </p:cNvPr>
            <p:cNvSpPr/>
            <p:nvPr/>
          </p:nvSpPr>
          <p:spPr>
            <a:xfrm>
              <a:off x="8126298" y="2351083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1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9" name="사각형: 둥근 모서리 10">
              <a:extLst>
                <a:ext uri="{FF2B5EF4-FFF2-40B4-BE49-F238E27FC236}">
                  <a16:creationId xmlns:a16="http://schemas.microsoft.com/office/drawing/2014/main" id="{6595E7C9-4C63-4B8F-BD0D-C660E8495481}"/>
                </a:ext>
              </a:extLst>
            </p:cNvPr>
            <p:cNvSpPr/>
            <p:nvPr/>
          </p:nvSpPr>
          <p:spPr>
            <a:xfrm>
              <a:off x="1018117" y="2234363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2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0" name="사각형: 둥근 모서리 11">
              <a:extLst>
                <a:ext uri="{FF2B5EF4-FFF2-40B4-BE49-F238E27FC236}">
                  <a16:creationId xmlns:a16="http://schemas.microsoft.com/office/drawing/2014/main" id="{FED27846-A974-4165-928C-2C89AC82E051}"/>
                </a:ext>
              </a:extLst>
            </p:cNvPr>
            <p:cNvSpPr/>
            <p:nvPr/>
          </p:nvSpPr>
          <p:spPr>
            <a:xfrm>
              <a:off x="6935784" y="4094040"/>
              <a:ext cx="5270025" cy="201807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solidFill>
                    <a:schemeClr val="tx1"/>
                  </a:solidFill>
                  <a:latin typeface="+mn-ea"/>
                </a:rPr>
                <a:t>가입동의 풀었으면</a:t>
              </a:r>
              <a:r>
                <a:rPr lang="en-US" altLang="ko-KR" sz="2400" dirty="0">
                  <a:solidFill>
                    <a:schemeClr val="tx1"/>
                  </a:solidFill>
                  <a:latin typeface="+mn-ea"/>
                </a:rPr>
                <a:t>,</a:t>
              </a:r>
            </a:p>
            <a:p>
              <a:pPr algn="ctr"/>
              <a:endParaRPr lang="en-US" altLang="ko-KR" sz="24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2400" dirty="0" smtClean="0">
                  <a:solidFill>
                    <a:schemeClr val="tx1"/>
                  </a:solidFill>
                  <a:latin typeface="+mn-ea"/>
                </a:rPr>
                <a:t>견적 요청 간 작성했던</a:t>
              </a:r>
              <a:endParaRPr lang="en-US" altLang="ko-KR" sz="2400" dirty="0" smtClean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2400" dirty="0" smtClean="0">
                  <a:solidFill>
                    <a:schemeClr val="tx1"/>
                  </a:solidFill>
                  <a:latin typeface="+mn-ea"/>
                </a:rPr>
                <a:t>메모 내용을</a:t>
              </a:r>
              <a:r>
                <a:rPr lang="en-US" altLang="ko-KR" sz="2400" dirty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lang="ko-KR" altLang="en-US" sz="2400" dirty="0" smtClean="0">
                  <a:solidFill>
                    <a:srgbClr val="FF0000"/>
                  </a:solidFill>
                  <a:latin typeface="+mn-ea"/>
                </a:rPr>
                <a:t>복사 </a:t>
              </a:r>
              <a:r>
                <a:rPr lang="en-US" altLang="ko-KR" sz="2400" dirty="0">
                  <a:solidFill>
                    <a:srgbClr val="FF0000"/>
                  </a:solidFill>
                  <a:latin typeface="+mn-ea"/>
                </a:rPr>
                <a:t>+ </a:t>
              </a:r>
              <a:r>
                <a:rPr lang="ko-KR" altLang="en-US" sz="2400" dirty="0">
                  <a:solidFill>
                    <a:srgbClr val="FF0000"/>
                  </a:solidFill>
                  <a:latin typeface="+mn-ea"/>
                </a:rPr>
                <a:t>붙여넣기</a:t>
              </a:r>
              <a:endParaRPr lang="en-US" altLang="ko-KR" sz="2400" dirty="0">
                <a:solidFill>
                  <a:srgbClr val="FF0000"/>
                </a:solidFill>
                <a:latin typeface="+mn-ea"/>
              </a:endParaRP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552AF49-BDAF-42BB-9C71-1BC5F3589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29820" y="4806134"/>
              <a:ext cx="4865866" cy="738252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602A916-A44F-43B8-A558-2CAF23D6F713}"/>
                </a:ext>
              </a:extLst>
            </p:cNvPr>
            <p:cNvSpPr/>
            <p:nvPr/>
          </p:nvSpPr>
          <p:spPr>
            <a:xfrm>
              <a:off x="1116012" y="4841675"/>
              <a:ext cx="4879674" cy="62709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/>
                <a:t>`</a:t>
              </a:r>
              <a:endParaRPr lang="ko-KR" altLang="en-US" dirty="0"/>
            </a:p>
          </p:txBody>
        </p:sp>
        <p:sp>
          <p:nvSpPr>
            <p:cNvPr id="13" name="사각형: 둥근 모서리 10">
              <a:extLst>
                <a:ext uri="{FF2B5EF4-FFF2-40B4-BE49-F238E27FC236}">
                  <a16:creationId xmlns:a16="http://schemas.microsoft.com/office/drawing/2014/main" id="{6595E7C9-4C63-4B8F-BD0D-C660E8495481}"/>
                </a:ext>
              </a:extLst>
            </p:cNvPr>
            <p:cNvSpPr/>
            <p:nvPr/>
          </p:nvSpPr>
          <p:spPr>
            <a:xfrm>
              <a:off x="1018117" y="4684339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3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602A916-A44F-43B8-A558-2CAF23D6F713}"/>
                </a:ext>
              </a:extLst>
            </p:cNvPr>
            <p:cNvSpPr/>
            <p:nvPr/>
          </p:nvSpPr>
          <p:spPr>
            <a:xfrm>
              <a:off x="5283466" y="5534029"/>
              <a:ext cx="712219" cy="3341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사각형: 둥근 모서리 10">
              <a:extLst>
                <a:ext uri="{FF2B5EF4-FFF2-40B4-BE49-F238E27FC236}">
                  <a16:creationId xmlns:a16="http://schemas.microsoft.com/office/drawing/2014/main" id="{6595E7C9-4C63-4B8F-BD0D-C660E8495481}"/>
                </a:ext>
              </a:extLst>
            </p:cNvPr>
            <p:cNvSpPr/>
            <p:nvPr/>
          </p:nvSpPr>
          <p:spPr>
            <a:xfrm>
              <a:off x="5190414" y="5404678"/>
              <a:ext cx="186104" cy="2571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rgbClr val="FF0000"/>
                  </a:solidFill>
                </a:rPr>
                <a:t>4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화살표: 오른쪽 12">
              <a:extLst>
                <a:ext uri="{FF2B5EF4-FFF2-40B4-BE49-F238E27FC236}">
                  <a16:creationId xmlns:a16="http://schemas.microsoft.com/office/drawing/2014/main" id="{23106B4F-A732-49E1-99D5-07FBDFDDA4FC}"/>
                </a:ext>
              </a:extLst>
            </p:cNvPr>
            <p:cNvSpPr/>
            <p:nvPr/>
          </p:nvSpPr>
          <p:spPr>
            <a:xfrm flipV="1">
              <a:off x="6093580" y="4894160"/>
              <a:ext cx="681103" cy="510518"/>
            </a:xfrm>
            <a:prstGeom prst="rightArrow">
              <a:avLst/>
            </a:prstGeom>
            <a:solidFill>
              <a:srgbClr val="FF000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418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640CD69-8E79-481A-B6EB-63D867204B19}"/>
              </a:ext>
            </a:extLst>
          </p:cNvPr>
          <p:cNvSpPr txBox="1">
            <a:spLocks/>
          </p:cNvSpPr>
          <p:nvPr/>
        </p:nvSpPr>
        <p:spPr>
          <a:xfrm>
            <a:off x="458865" y="1000800"/>
            <a:ext cx="9000000" cy="5400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dirty="0" err="1" smtClean="0">
                <a:latin typeface="+mn-ea"/>
                <a:ea typeface="+mn-ea"/>
              </a:rPr>
              <a:t>보플로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ko-KR" altLang="en-US" dirty="0" err="1" smtClean="0">
                <a:latin typeface="+mn-ea"/>
                <a:ea typeface="+mn-ea"/>
              </a:rPr>
              <a:t>견적완료</a:t>
            </a:r>
            <a:r>
              <a:rPr lang="ko-KR" altLang="en-US" dirty="0" smtClean="0">
                <a:latin typeface="+mn-ea"/>
                <a:ea typeface="+mn-ea"/>
              </a:rPr>
              <a:t> 알림 옵니다</a:t>
            </a:r>
            <a:r>
              <a:rPr lang="en-US" altLang="ko-KR" dirty="0" smtClean="0">
                <a:latin typeface="+mn-ea"/>
                <a:ea typeface="+mn-ea"/>
              </a:rPr>
              <a:t>.</a:t>
            </a:r>
            <a:br>
              <a:rPr lang="en-US" altLang="ko-KR" dirty="0" smtClean="0">
                <a:latin typeface="+mn-ea"/>
                <a:ea typeface="+mn-ea"/>
              </a:rPr>
            </a:br>
            <a:r>
              <a:rPr lang="en-US" altLang="ko-KR" dirty="0" smtClean="0">
                <a:latin typeface="+mn-ea"/>
                <a:ea typeface="+mn-ea"/>
              </a:rPr>
              <a:t/>
            </a:r>
            <a:br>
              <a:rPr lang="en-US" altLang="ko-KR" dirty="0" smtClean="0">
                <a:latin typeface="+mn-ea"/>
                <a:ea typeface="+mn-ea"/>
              </a:rPr>
            </a:br>
            <a:r>
              <a:rPr lang="en-US" altLang="ko-KR" dirty="0" smtClean="0">
                <a:latin typeface="+mn-ea"/>
                <a:ea typeface="+mn-ea"/>
              </a:rPr>
              <a:t>1) </a:t>
            </a:r>
            <a:r>
              <a:rPr lang="ko-KR" altLang="en-US" dirty="0" smtClean="0">
                <a:latin typeface="+mn-ea"/>
                <a:ea typeface="+mn-ea"/>
              </a:rPr>
              <a:t>삼성화재 로그인</a:t>
            </a:r>
            <a:r>
              <a:rPr lang="en-US" altLang="ko-KR" dirty="0" smtClean="0">
                <a:latin typeface="+mn-ea"/>
                <a:ea typeface="+mn-ea"/>
              </a:rPr>
              <a:t/>
            </a:r>
            <a:br>
              <a:rPr lang="en-US" altLang="ko-KR" dirty="0" smtClean="0">
                <a:latin typeface="+mn-ea"/>
                <a:ea typeface="+mn-ea"/>
              </a:rPr>
            </a:br>
            <a:r>
              <a:rPr lang="en-US" altLang="ko-KR" dirty="0" smtClean="0">
                <a:latin typeface="+mn-ea"/>
                <a:ea typeface="+mn-ea"/>
              </a:rPr>
              <a:t/>
            </a:r>
            <a:br>
              <a:rPr lang="en-US" altLang="ko-KR" dirty="0" smtClean="0">
                <a:latin typeface="+mn-ea"/>
                <a:ea typeface="+mn-ea"/>
              </a:rPr>
            </a:br>
            <a:r>
              <a:rPr lang="en-US" altLang="ko-KR" dirty="0" smtClean="0">
                <a:latin typeface="+mn-ea"/>
                <a:ea typeface="+mn-ea"/>
              </a:rPr>
              <a:t>2) </a:t>
            </a:r>
            <a:r>
              <a:rPr lang="ko-KR" altLang="en-US" dirty="0" smtClean="0">
                <a:latin typeface="+mn-ea"/>
                <a:ea typeface="+mn-ea"/>
              </a:rPr>
              <a:t>자동차 </a:t>
            </a:r>
            <a:r>
              <a:rPr lang="ko-KR" altLang="en-US" dirty="0" err="1" smtClean="0">
                <a:latin typeface="+mn-ea"/>
                <a:ea typeface="+mn-ea"/>
              </a:rPr>
              <a:t>설계조회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en-US" altLang="ko-KR" sz="4000" dirty="0" smtClean="0">
                <a:latin typeface="+mn-ea"/>
                <a:ea typeface="+mn-ea"/>
              </a:rPr>
              <a:t>(</a:t>
            </a:r>
            <a:r>
              <a:rPr lang="ko-KR" altLang="en-US" sz="4000" dirty="0" smtClean="0">
                <a:latin typeface="+mn-ea"/>
                <a:ea typeface="+mn-ea"/>
              </a:rPr>
              <a:t>찾기</a:t>
            </a:r>
            <a:r>
              <a:rPr lang="en-US" altLang="ko-KR" sz="4000" dirty="0" smtClean="0">
                <a:latin typeface="+mn-ea"/>
                <a:ea typeface="+mn-ea"/>
              </a:rPr>
              <a:t>)</a:t>
            </a:r>
            <a:r>
              <a:rPr lang="en-US" altLang="ko-KR" dirty="0" smtClean="0">
                <a:latin typeface="+mn-ea"/>
                <a:ea typeface="+mn-ea"/>
              </a:rPr>
              <a:t/>
            </a:r>
            <a:br>
              <a:rPr lang="en-US" altLang="ko-KR" dirty="0" smtClean="0">
                <a:latin typeface="+mn-ea"/>
                <a:ea typeface="+mn-ea"/>
              </a:rPr>
            </a:br>
            <a:r>
              <a:rPr lang="en-US" altLang="ko-KR" dirty="0" smtClean="0">
                <a:latin typeface="+mn-ea"/>
                <a:ea typeface="+mn-ea"/>
              </a:rPr>
              <a:t/>
            </a:r>
            <a:br>
              <a:rPr lang="en-US" altLang="ko-KR" dirty="0" smtClean="0">
                <a:latin typeface="+mn-ea"/>
                <a:ea typeface="+mn-ea"/>
              </a:rPr>
            </a:br>
            <a:r>
              <a:rPr lang="en-US" altLang="ko-KR" dirty="0" smtClean="0">
                <a:latin typeface="+mn-ea"/>
                <a:ea typeface="+mn-ea"/>
              </a:rPr>
              <a:t>3) </a:t>
            </a:r>
            <a:r>
              <a:rPr lang="ko-KR" altLang="en-US" dirty="0" smtClean="0">
                <a:latin typeface="+mn-ea"/>
                <a:ea typeface="+mn-ea"/>
              </a:rPr>
              <a:t>청약 </a:t>
            </a:r>
            <a:r>
              <a:rPr lang="en-US" altLang="ko-KR" sz="4000" dirty="0" smtClean="0">
                <a:latin typeface="+mn-ea"/>
                <a:ea typeface="+mn-ea"/>
              </a:rPr>
              <a:t>(</a:t>
            </a:r>
            <a:r>
              <a:rPr lang="ko-KR" altLang="en-US" sz="4000" dirty="0" smtClean="0">
                <a:latin typeface="+mn-ea"/>
                <a:ea typeface="+mn-ea"/>
              </a:rPr>
              <a:t>모바일 </a:t>
            </a:r>
            <a:r>
              <a:rPr lang="en-US" altLang="ko-KR" sz="4000" dirty="0" smtClean="0">
                <a:latin typeface="+mn-ea"/>
                <a:ea typeface="+mn-ea"/>
              </a:rPr>
              <a:t>or </a:t>
            </a:r>
            <a:r>
              <a:rPr lang="ko-KR" altLang="en-US" sz="4000" dirty="0" smtClean="0">
                <a:latin typeface="+mn-ea"/>
                <a:ea typeface="+mn-ea"/>
              </a:rPr>
              <a:t>종이</a:t>
            </a:r>
            <a:r>
              <a:rPr lang="en-US" altLang="ko-KR" sz="4000" dirty="0" smtClean="0">
                <a:latin typeface="+mn-ea"/>
                <a:ea typeface="+mn-ea"/>
              </a:rPr>
              <a:t>)</a:t>
            </a:r>
            <a:endParaRPr lang="ko-KR" altLang="en-US" sz="4000" dirty="0"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 견적 프로세스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_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 요청</a:t>
            </a:r>
            <a:endParaRPr kumimoji="1" lang="en-US" altLang="ko-KR" sz="2000" b="1" dirty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65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참고 사항 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갱신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(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만기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중고차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구매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3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1210757"/>
            <a:ext cx="647822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고객에게 받아야 되는 것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4392482"/>
            <a:ext cx="572794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블랙박스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마일리지 특약 여부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1741509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이전 가입한 보험사 </a:t>
            </a:r>
            <a:r>
              <a:rPr kumimoji="1" lang="en-US" altLang="ko-KR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그전 담보 그대로 갱신 희망할 경우만 </a:t>
            </a:r>
            <a:r>
              <a:rPr kumimoji="1" lang="en-US" altLang="ko-KR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7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2252478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고객 정보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운전할 대상자까지 모두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2768945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차량번호 </a:t>
            </a:r>
            <a:r>
              <a:rPr kumimoji="1" lang="en-US" altLang="ko-KR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* </a:t>
            </a:r>
            <a:r>
              <a:rPr kumimoji="1" lang="en-US" altLang="ko-KR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BEST :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자동차등록증 </a:t>
            </a:r>
            <a:r>
              <a:rPr kumimoji="1" lang="en-US" altLang="ko-KR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9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4970498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블박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할인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 내부에서 찍은 사진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블랙박스 가액 </a:t>
            </a:r>
            <a:r>
              <a:rPr kumimoji="1" lang="en-US" altLang="ko-KR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모르면 </a:t>
            </a:r>
            <a:r>
              <a:rPr kumimoji="1" lang="en-US" altLang="ko-KR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</a:t>
            </a:r>
            <a:r>
              <a:rPr kumimoji="1" lang="ko-KR" altLang="en-US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만원</a:t>
            </a:r>
            <a:r>
              <a:rPr kumimoji="1" lang="en-US" altLang="ko-KR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0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5481467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마일리지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계기판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사진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앞 번호판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 나온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 정면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사진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3285406"/>
            <a:ext cx="883221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운전자 범위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부부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본인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+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지정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지정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가족한정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누구나 등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endParaRPr kumimoji="1" lang="en-US" altLang="ko-KR" sz="2400" b="1" dirty="0" smtClean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&amp;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최소 운전 연령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가입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경력 인정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대상자 정하기</a:t>
            </a:r>
            <a:endParaRPr kumimoji="1" lang="en-US" altLang="ko-KR" sz="2400" b="1" dirty="0" smtClean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2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5992436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noProof="0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               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후에 환급 받을 계약자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계좌번호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800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참고 사항 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신차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3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1210757"/>
            <a:ext cx="647822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고객에게 받아야 되는 것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4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4395228"/>
            <a:ext cx="10360905" cy="43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블랙박스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마일리지 특약 여부 </a:t>
            </a:r>
            <a:r>
              <a:rPr kumimoji="1" lang="en-US" altLang="ko-KR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당장은 불가</a:t>
            </a:r>
            <a:r>
              <a:rPr kumimoji="1" lang="en-US" altLang="ko-KR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추후 배서 </a:t>
            </a:r>
            <a:r>
              <a:rPr kumimoji="1" lang="en-US" altLang="ko-KR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!)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6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1741509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고객 정보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운전할 대상자까지 모두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</a:t>
            </a:r>
          </a:p>
        </p:txBody>
      </p:sp>
      <p:sp>
        <p:nvSpPr>
          <p:cNvPr id="9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4970498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블박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할인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 내부에서 찍은 사진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블랙박스 가액 </a:t>
            </a:r>
            <a:r>
              <a:rPr kumimoji="1" lang="en-US" altLang="ko-KR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모르면 </a:t>
            </a:r>
            <a:r>
              <a:rPr kumimoji="1" lang="en-US" altLang="ko-KR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10</a:t>
            </a:r>
            <a:r>
              <a:rPr kumimoji="1" lang="ko-KR" altLang="en-US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만원</a:t>
            </a:r>
            <a:r>
              <a:rPr kumimoji="1" lang="en-US" altLang="ko-KR" sz="1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0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5481467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마일리지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계기판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사진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앞 번호판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이 나온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 정면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사진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3285406"/>
            <a:ext cx="883221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운전자 범위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부부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본인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+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지정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지정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가족한정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누구나 등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endParaRPr kumimoji="1" lang="en-US" altLang="ko-KR" sz="2400" b="1" dirty="0" smtClean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&amp;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최소 운전 연령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가입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경력 인정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대상자 정하기</a:t>
            </a:r>
            <a:endParaRPr kumimoji="1" lang="en-US" altLang="ko-KR" sz="2400" b="1" dirty="0" smtClean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2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5992436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noProof="0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               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후에 환급 받을 계약자 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계좌번호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2326042"/>
            <a:ext cx="883221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차대번호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&amp;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견적서</a:t>
            </a:r>
            <a:endParaRPr kumimoji="1" lang="en-US" altLang="ko-KR" sz="2400" b="1" dirty="0" smtClean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marR="0" lvl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 *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나중에 차량번호판 새로 붙이면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차량번호 확정 </a:t>
            </a:r>
            <a:r>
              <a:rPr kumimoji="1" lang="en-US" altLang="ko-KR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배서</a:t>
            </a:r>
            <a:r>
              <a:rPr kumimoji="1" lang="en-US" altLang="ko-KR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필요 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</a:t>
            </a:r>
            <a:endParaRPr kumimoji="1" lang="en-US" altLang="ko-KR" sz="2400" b="1" dirty="0" smtClean="0">
              <a:solidFill>
                <a:srgbClr val="061B34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60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9" grpId="0"/>
      <p:bldP spid="10" grpId="0"/>
      <p:bldP spid="11" grpId="0"/>
      <p:bldP spid="12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개념잡기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담보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6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1210757"/>
            <a:ext cx="939988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책임 보험 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대인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1, 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대물    </a:t>
            </a:r>
            <a:r>
              <a:rPr kumimoji="1" lang="en-US" altLang="ko-KR" sz="20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* </a:t>
            </a:r>
            <a:r>
              <a:rPr kumimoji="1" lang="ko-KR" altLang="en-US" sz="20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한도초과 부분 </a:t>
            </a:r>
            <a:r>
              <a:rPr kumimoji="1" lang="en-US" altLang="ko-KR" sz="20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0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본인 부담</a:t>
            </a:r>
            <a:endParaRPr kumimoji="1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3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1804428"/>
            <a:ext cx="885214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종합 보험 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책임 보험에 </a:t>
            </a:r>
            <a:r>
              <a:rPr kumimoji="1" lang="ko-KR" altLang="en-US" sz="28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담보를 추가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하여 가입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7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2349218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대인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대물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자손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기신체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손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해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 or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자상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동차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해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8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2860187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자차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</a:t>
            </a:r>
            <a:r>
              <a:rPr kumimoji="1" lang="ko-KR" altLang="en-US" sz="24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량손해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무보험차상해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긴급출동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0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3401837"/>
            <a:ext cx="885214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[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참고사항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]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1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3879064"/>
            <a:ext cx="97817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자손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치료비만</a:t>
            </a:r>
            <a:r>
              <a:rPr kumimoji="1" lang="en-US" altLang="ko-KR" sz="28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동승자 보상 안됨</a:t>
            </a:r>
            <a:r>
              <a:rPr kumimoji="1" lang="en-US" altLang="ko-KR" sz="28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부상 등급별 </a:t>
            </a:r>
            <a:r>
              <a:rPr kumimoji="1" lang="ko-KR" altLang="en-US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차등 지급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2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4420513"/>
            <a:ext cx="97817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자상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치료비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+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위자료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+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휴업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+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합의금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/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가입금액 내 지급</a:t>
            </a:r>
            <a:endParaRPr kumimoji="1" lang="en-US" altLang="ko-KR" sz="1100" b="1" i="0" u="none" strike="noStrike" kern="1200" cap="none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4900701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내 보험사에서 나에게 합의 및 지급 후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상대방에게 구상 </a:t>
            </a:r>
            <a:r>
              <a:rPr kumimoji="1" lang="en-US" altLang="ko-KR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!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0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5373065"/>
            <a:ext cx="97817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대물 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가능한 크게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 뿐만 아니라 모든 물건에 대한 배상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1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5906984"/>
            <a:ext cx="97817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▷ </a:t>
            </a:r>
            <a:r>
              <a:rPr kumimoji="1" lang="ko-KR" altLang="en-US" sz="28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무보험차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상해 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무보험 </a:t>
            </a:r>
            <a:r>
              <a:rPr kumimoji="1" lang="en-US" altLang="ko-KR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책임보험</a:t>
            </a:r>
            <a:r>
              <a:rPr kumimoji="1" lang="en-US" altLang="ko-KR" sz="28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차량과 사고 시 보상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6238" y="-1177750"/>
            <a:ext cx="4533900" cy="4248150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-898650" y="7599744"/>
            <a:ext cx="3207097" cy="6214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 smtClean="0">
                <a:solidFill>
                  <a:schemeClr val="tx1"/>
                </a:solidFill>
              </a:rPr>
              <a:t>법률비용담보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-834534" y="8276794"/>
            <a:ext cx="10984374" cy="7364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chemeClr val="tx1"/>
                </a:solidFill>
              </a:rPr>
              <a:t>∙ </a:t>
            </a:r>
            <a:r>
              <a:rPr lang="ko-KR" altLang="en-US" sz="3200" dirty="0" smtClean="0">
                <a:solidFill>
                  <a:schemeClr val="tx1"/>
                </a:solidFill>
              </a:rPr>
              <a:t>운전자 보험에 포함할 것 </a:t>
            </a:r>
            <a:r>
              <a:rPr lang="en-US" altLang="ko-KR" sz="3200" dirty="0" smtClean="0">
                <a:solidFill>
                  <a:schemeClr val="tx1"/>
                </a:solidFill>
              </a:rPr>
              <a:t>!</a:t>
            </a:r>
            <a:endParaRPr lang="ko-KR" altLang="en-US" sz="3200" dirty="0" smtClean="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-696124" y="9013202"/>
            <a:ext cx="1559550" cy="6214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4000" dirty="0" smtClean="0">
                <a:solidFill>
                  <a:srgbClr val="FF0000"/>
                </a:solidFill>
              </a:rPr>
              <a:t>WHY?</a:t>
            </a:r>
            <a:endParaRPr lang="ko-KR" altLang="en-US" sz="4000" dirty="0" smtClean="0">
              <a:solidFill>
                <a:srgbClr val="FF0000"/>
              </a:solidFill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848751"/>
              </p:ext>
            </p:extLst>
          </p:nvPr>
        </p:nvGraphicFramePr>
        <p:xfrm>
          <a:off x="-696124" y="9749608"/>
          <a:ext cx="10845964" cy="32851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66732">
                  <a:extLst>
                    <a:ext uri="{9D8B030D-6E8A-4147-A177-3AD203B41FA5}">
                      <a16:colId xmlns:a16="http://schemas.microsoft.com/office/drawing/2014/main" val="4190947198"/>
                    </a:ext>
                  </a:extLst>
                </a:gridCol>
                <a:gridCol w="4042063">
                  <a:extLst>
                    <a:ext uri="{9D8B030D-6E8A-4147-A177-3AD203B41FA5}">
                      <a16:colId xmlns:a16="http://schemas.microsoft.com/office/drawing/2014/main" val="188479170"/>
                    </a:ext>
                  </a:extLst>
                </a:gridCol>
                <a:gridCol w="4337169">
                  <a:extLst>
                    <a:ext uri="{9D8B030D-6E8A-4147-A177-3AD203B41FA5}">
                      <a16:colId xmlns:a16="http://schemas.microsoft.com/office/drawing/2014/main" val="2544174062"/>
                    </a:ext>
                  </a:extLst>
                </a:gridCol>
              </a:tblGrid>
              <a:tr h="6628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운전자보험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자동차보험</a:t>
                      </a:r>
                      <a:endParaRPr lang="ko-KR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945615"/>
                  </a:ext>
                </a:extLst>
              </a:tr>
              <a:tr h="843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보장 한도</a:t>
                      </a:r>
                      <a:r>
                        <a:rPr lang="en-US" altLang="ko-KR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大</a:t>
                      </a:r>
                      <a:endParaRPr lang="ko-KR" altLang="en-US" sz="4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小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69322"/>
                  </a:ext>
                </a:extLst>
              </a:tr>
              <a:tr h="8437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갱신 주기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10,</a:t>
                      </a:r>
                      <a:r>
                        <a:rPr lang="en-US" altLang="ko-KR" sz="40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20</a:t>
                      </a:r>
                      <a:r>
                        <a:rPr lang="ko-KR" altLang="en-US" sz="4000" b="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</a:t>
                      </a:r>
                      <a:endParaRPr lang="ko-KR" altLang="en-US" sz="4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매년 갱신</a:t>
                      </a:r>
                      <a:endParaRPr lang="ko-KR" altLang="en-US" sz="4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870053"/>
                  </a:ext>
                </a:extLst>
              </a:tr>
              <a:tr h="9348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보장 대상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피보험자</a:t>
                      </a:r>
                      <a:endParaRPr lang="en-US" altLang="ko-KR" sz="2400" b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여러 차량 운전 가능</a:t>
                      </a:r>
                      <a:r>
                        <a:rPr lang="en-US" altLang="ko-KR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차량 운전자만 </a:t>
                      </a:r>
                      <a:r>
                        <a:rPr lang="en-US" altLang="ko-KR" sz="24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!</a:t>
                      </a:r>
                      <a:endParaRPr lang="ko-KR" altLang="en-US" sz="2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049133"/>
                  </a:ext>
                </a:extLst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-834534" y="13149755"/>
            <a:ext cx="10984374" cy="73640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3200" dirty="0" smtClean="0">
                <a:solidFill>
                  <a:schemeClr val="tx1"/>
                </a:solidFill>
              </a:rPr>
              <a:t>※</a:t>
            </a:r>
            <a:r>
              <a:rPr lang="ko-KR" altLang="en-US" sz="3200" dirty="0" smtClean="0">
                <a:solidFill>
                  <a:schemeClr val="tx1"/>
                </a:solidFill>
              </a:rPr>
              <a:t> 법률비용담보는 보험금 지급 후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재가입이 어려움 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!</a:t>
            </a:r>
            <a:endParaRPr lang="ko-KR" altLang="en-US" sz="3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61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7" grpId="0"/>
      <p:bldP spid="18" grpId="0"/>
      <p:bldP spid="10" grpId="0"/>
      <p:bldP spid="11" grpId="0"/>
      <p:bldP spid="12" grpId="0"/>
      <p:bldP spid="19" grpId="0"/>
      <p:bldP spid="20" grpId="0"/>
      <p:bldP spid="21" grpId="0"/>
      <p:bldP spid="22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개념잡기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비교견적 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(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가설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)</a:t>
            </a:r>
            <a:r>
              <a:rPr kumimoji="1" lang="en-US" altLang="ko-KR" sz="2400" b="1" i="0" u="none" strike="noStrike" kern="120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1" lang="en-US" altLang="ko-KR" sz="2400" b="1" i="0" u="none" strike="noStrike" kern="1200" cap="none" spc="0" normalizeH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VS </a:t>
            </a:r>
            <a:r>
              <a:rPr kumimoji="1" lang="ko-KR" altLang="en-US" sz="2400" b="1" i="0" u="none" strike="noStrike" kern="1200" cap="none" spc="0" normalizeH="0" noProof="0" dirty="0" err="1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원수사</a:t>
            </a:r>
            <a:r>
              <a:rPr kumimoji="1" lang="ko-KR" altLang="en-US" sz="2400" b="1" i="0" u="none" strike="noStrike" kern="1200" cap="none" spc="0" normalizeH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요청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진설</a:t>
            </a:r>
            <a:r>
              <a:rPr kumimoji="1" lang="en-US" altLang="ko-KR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6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1221330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①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비교견적 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: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장기보험 </a:t>
            </a:r>
            <a:r>
              <a:rPr kumimoji="1" lang="ko-KR" altLang="en-US" sz="28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가상설계로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보험료를 비교하는 개념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7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2212058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spc="-8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spc="-80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spc="-8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 보험사 담보 그대로 요청 시 </a:t>
            </a:r>
            <a:r>
              <a:rPr kumimoji="1" lang="ko-KR" altLang="en-US" sz="2400" b="1" spc="-8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전 보험사 가입설계 및 </a:t>
            </a:r>
            <a:r>
              <a:rPr kumimoji="1" lang="ko-KR" altLang="en-US" sz="2400" b="1" spc="-8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고객등록</a:t>
            </a:r>
            <a:r>
              <a:rPr kumimoji="1" lang="ko-KR" altLang="en-US" sz="2400" b="1" spc="-8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必</a:t>
            </a:r>
            <a:endParaRPr kumimoji="1" lang="en-US" altLang="ko-KR" sz="1050" b="1" i="0" u="none" strike="noStrike" kern="1200" cap="none" spc="-8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1724769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KB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손보 기준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으로 비교견적 실시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가입설계동의 및 </a:t>
            </a:r>
            <a:r>
              <a:rPr kumimoji="1" lang="ko-KR" altLang="en-US" sz="24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고객등록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必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5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2738740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②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비교견적 </a:t>
            </a:r>
            <a:r>
              <a:rPr kumimoji="1" lang="en-US" altLang="ko-KR" sz="28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=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noProof="0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가설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vs </a:t>
            </a:r>
            <a:r>
              <a:rPr kumimoji="1" lang="ko-KR" altLang="en-US" sz="28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원수사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설계요청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8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=</a:t>
            </a:r>
            <a:r>
              <a:rPr kumimoji="1" lang="en-US" altLang="ko-KR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noProof="0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진설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3269881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보험료 비교 후 마음에 드는 보험사로 </a:t>
            </a:r>
            <a:r>
              <a:rPr kumimoji="1" lang="ko-KR" altLang="en-US" sz="2400" b="1" dirty="0" err="1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원수사</a:t>
            </a:r>
            <a:r>
              <a:rPr kumimoji="1" lang="ko-KR" altLang="en-US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err="1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설계요청</a:t>
            </a:r>
            <a:r>
              <a:rPr kumimoji="1" lang="ko-KR" altLang="en-US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진설</a:t>
            </a:r>
            <a:r>
              <a:rPr kumimoji="1" lang="en-US" altLang="ko-KR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2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3786747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③ </a:t>
            </a:r>
            <a:r>
              <a:rPr kumimoji="1" lang="ko-KR" altLang="en-US" sz="28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원수사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설계 요청 시 </a:t>
            </a:r>
            <a:r>
              <a:rPr kumimoji="1" lang="ko-KR" altLang="en-US" sz="2800" b="1" noProof="0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해당 보험사 가입설계 및 </a:t>
            </a:r>
            <a:r>
              <a:rPr kumimoji="1" lang="ko-KR" altLang="en-US" sz="2800" b="1" noProof="0" dirty="0" err="1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고객등록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noProof="0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必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4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4434983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④ </a:t>
            </a:r>
            <a:r>
              <a:rPr kumimoji="1" lang="ko-KR" altLang="en-US" sz="28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원수사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설계 완료 후 </a:t>
            </a:r>
            <a:r>
              <a:rPr kumimoji="1" lang="en-US" altLang="ko-KR" sz="2800" b="1" dirty="0">
                <a:solidFill>
                  <a:srgbClr val="061B34"/>
                </a:solidFill>
              </a:rPr>
              <a:t>'</a:t>
            </a:r>
            <a:r>
              <a:rPr kumimoji="1" lang="ko-KR" altLang="en-US" sz="28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원수사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전산</a:t>
            </a:r>
            <a:r>
              <a:rPr kumimoji="1" lang="en-US" altLang="ko-KR" sz="2800" b="1" dirty="0" smtClean="0">
                <a:solidFill>
                  <a:srgbClr val="061B34"/>
                </a:solidFill>
              </a:rPr>
              <a:t>'</a:t>
            </a:r>
            <a:r>
              <a:rPr kumimoji="1" lang="ko-KR" altLang="en-US" sz="2800" b="1" dirty="0" smtClean="0">
                <a:solidFill>
                  <a:srgbClr val="061B34"/>
                </a:solidFill>
              </a:rPr>
              <a:t>→</a:t>
            </a:r>
            <a:r>
              <a:rPr kumimoji="1" lang="en-US" altLang="ko-KR" sz="2800" b="1" dirty="0" smtClean="0">
                <a:solidFill>
                  <a:srgbClr val="061B34"/>
                </a:solidFill>
              </a:rPr>
              <a:t>'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자동차 </a:t>
            </a:r>
            <a:r>
              <a:rPr kumimoji="1" lang="ko-KR" altLang="en-US" sz="28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설계조회</a:t>
            </a:r>
            <a:r>
              <a:rPr kumimoji="1" lang="en-US" altLang="ko-KR" sz="2800" b="1" dirty="0" smtClean="0">
                <a:solidFill>
                  <a:srgbClr val="061B34"/>
                </a:solidFill>
              </a:rPr>
              <a:t>'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4957310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FF000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비교견적 후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산출된 보험료와 </a:t>
            </a:r>
            <a:r>
              <a:rPr kumimoji="1" lang="ko-KR" altLang="en-US" sz="2400" b="1" dirty="0" smtClean="0"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진설 후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산출된 보험료 간 차이 발생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7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5553156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⑤ 설계 내용 최종확인 후 청약 진행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모바일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or 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종이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6025891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 smtClean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noProof="0" dirty="0" smtClean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err="1">
                <a:latin typeface="+mj-lt"/>
                <a:ea typeface="G마켓 산스 TTF Bold" panose="02000000000000000000" pitchFamily="2" charset="-127"/>
              </a:rPr>
              <a:t>카드정보</a:t>
            </a:r>
            <a:r>
              <a:rPr kumimoji="1" lang="ko-KR" altLang="en-US" sz="2400" b="1" dirty="0">
                <a:latin typeface="+mj-lt"/>
                <a:ea typeface="G마켓 산스 TTF Bold" panose="02000000000000000000" pitchFamily="2" charset="-127"/>
              </a:rPr>
              <a:t> </a:t>
            </a:r>
            <a:r>
              <a:rPr kumimoji="1" lang="en-US" altLang="ko-KR" sz="2000" b="1" dirty="0">
                <a:latin typeface="+mj-lt"/>
                <a:ea typeface="G마켓 산스 TTF Bold" panose="02000000000000000000" pitchFamily="2" charset="-127"/>
              </a:rPr>
              <a:t>(</a:t>
            </a:r>
            <a:r>
              <a:rPr kumimoji="1" lang="ko-KR" altLang="en-US" sz="2000" b="1" dirty="0">
                <a:latin typeface="+mj-lt"/>
                <a:ea typeface="G마켓 산스 TTF Bold" panose="02000000000000000000" pitchFamily="2" charset="-127"/>
              </a:rPr>
              <a:t>카드번호</a:t>
            </a:r>
            <a:r>
              <a:rPr kumimoji="1" lang="en-US" altLang="ko-KR" sz="2000" b="1" dirty="0">
                <a:latin typeface="+mj-lt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000" b="1" dirty="0">
                <a:latin typeface="+mj-lt"/>
                <a:ea typeface="G마켓 산스 TTF Bold" panose="02000000000000000000" pitchFamily="2" charset="-127"/>
              </a:rPr>
              <a:t>유효기간</a:t>
            </a:r>
            <a:r>
              <a:rPr kumimoji="1" lang="en-US" altLang="ko-KR" sz="2000" b="1" dirty="0">
                <a:latin typeface="+mj-lt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000" b="1" dirty="0">
                <a:latin typeface="+mj-lt"/>
                <a:ea typeface="G마켓 산스 TTF Bold" panose="02000000000000000000" pitchFamily="2" charset="-127"/>
              </a:rPr>
              <a:t>할부 개월</a:t>
            </a:r>
            <a:r>
              <a:rPr kumimoji="1" lang="en-US" altLang="ko-KR" sz="2000" b="1" dirty="0" smtClean="0">
                <a:latin typeface="+mj-lt"/>
                <a:ea typeface="G마켓 산스 TTF Bold" panose="02000000000000000000" pitchFamily="2" charset="-127"/>
              </a:rPr>
              <a:t>)</a:t>
            </a:r>
            <a:r>
              <a:rPr kumimoji="1" lang="en-US" altLang="ko-KR" sz="2400" b="1" dirty="0" smtClean="0">
                <a:latin typeface="+mj-lt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latin typeface="+mj-lt"/>
              </a:rPr>
              <a:t>→ </a:t>
            </a:r>
            <a:r>
              <a:rPr kumimoji="1" lang="ko-KR" altLang="en-US" sz="2400" b="1" dirty="0" err="1" smtClean="0">
                <a:latin typeface="+mj-lt"/>
                <a:ea typeface="G마켓 산스 TTF Bold" panose="02000000000000000000" pitchFamily="2" charset="-127"/>
              </a:rPr>
              <a:t>프로님께</a:t>
            </a:r>
            <a:r>
              <a:rPr kumimoji="1" lang="ko-KR" altLang="en-US" sz="2400" b="1" dirty="0" smtClean="0">
                <a:latin typeface="+mj-lt"/>
                <a:ea typeface="G마켓 산스 TTF Bold" panose="02000000000000000000" pitchFamily="2" charset="-127"/>
              </a:rPr>
              <a:t> 전달</a:t>
            </a:r>
            <a:r>
              <a:rPr kumimoji="1" lang="ko-KR" altLang="en-US" sz="2400" b="1" noProof="0" dirty="0" smtClean="0">
                <a:latin typeface="+mj-lt"/>
                <a:ea typeface="G마켓 산스 TTF Bold" panose="02000000000000000000" pitchFamily="2" charset="-127"/>
              </a:rPr>
              <a:t> 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632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개념잡기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1" lang="en-US" altLang="ko-K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: 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배서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sp>
        <p:nvSpPr>
          <p:cNvPr id="6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1221330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①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블랙박스 할인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차량번호 확정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마일리지</a:t>
            </a:r>
            <a:r>
              <a:rPr kumimoji="1" lang="en-US" altLang="ko-KR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자녀 할인 등 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3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2294391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②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배서 순서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자동차 배서도 비교 견적파트에서 해줌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.)</a:t>
            </a:r>
            <a:endParaRPr kumimoji="1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2842693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배서요청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→ 조회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→ 원하는 계약 배서 입력 클릭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3372472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→ 요청사항 선택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→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팩스번호 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본인 모바일 팩스 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or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사무실 </a:t>
            </a:r>
            <a:r>
              <a:rPr kumimoji="1" lang="ko-KR" altLang="en-US" sz="20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팩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스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3902251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→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필요한 정보 입력 및 파일 첨부 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차량번호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0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차량정보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기타요청사항 등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1" name="직사각형 1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55" y="5046555"/>
            <a:ext cx="932458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ko-KR" altLang="en-US" sz="28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③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800" b="1" noProof="0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배서요청</a:t>
            </a:r>
            <a:r>
              <a:rPr kumimoji="1" lang="ko-KR" altLang="en-US" sz="28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상세 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kumimoji="1" lang="ko-KR" altLang="en-US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보완 기능</a:t>
            </a:r>
            <a:r>
              <a:rPr kumimoji="1" lang="en-US" altLang="ko-KR" sz="2400" b="1" noProof="0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5637889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- </a:t>
            </a:r>
            <a:r>
              <a:rPr kumimoji="1" lang="ko-KR" altLang="en-US" sz="2400" b="1" dirty="0" err="1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배서요청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→ 조회</a:t>
            </a:r>
            <a:r>
              <a:rPr kumimoji="1" lang="ko-KR" altLang="en-US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→ 배서 신청했던 계약 건 클릭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6167668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→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필요한 파일 추가 업로드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추가 메모 입력</a:t>
            </a: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→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저장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0F6D84-E5DD-8387-BCA4-20721050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2" y="4432030"/>
            <a:ext cx="88322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defTabSz="914395" eaLnBrk="1" hangingPunct="1">
              <a:spcBef>
                <a:spcPct val="0"/>
              </a:spcBef>
              <a:buNone/>
              <a:defRPr/>
            </a:pPr>
            <a:r>
              <a:rPr kumimoji="1" lang="en-US" altLang="ko-KR" sz="2400" b="1" dirty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 →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메모 기입 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(SMS </a:t>
            </a:r>
            <a:r>
              <a:rPr kumimoji="1" lang="ko-KR" altLang="en-US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체크</a:t>
            </a:r>
            <a:r>
              <a:rPr kumimoji="1" lang="en-US" altLang="ko-KR" sz="20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→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저장</a:t>
            </a:r>
            <a:endParaRPr kumimoji="1" lang="en-US" altLang="ko-KR" sz="105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847896" y="1684491"/>
            <a:ext cx="8832218" cy="396322"/>
            <a:chOff x="860422" y="1684491"/>
            <a:chExt cx="8832218" cy="39632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40F6D84-E5DD-8387-BCA4-20721050C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2" y="1711481"/>
              <a:ext cx="88322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>
              <a:spAutoFit/>
            </a:bodyPr>
            <a:lstStyle>
              <a:lvl1pPr eaLnBrk="0" hangingPunct="0">
                <a:spcBef>
                  <a:spcPct val="20000"/>
                </a:spcBef>
                <a:buFont typeface="Arial" charset="0"/>
                <a:buChar char="•"/>
                <a:defRPr sz="32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charset="0"/>
                <a:buChar char="–"/>
                <a:defRPr sz="28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charset="0"/>
                <a:buChar char="–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defRPr>
              </a:lvl9pPr>
            </a:lstStyle>
            <a:p>
              <a:pPr lvl="0" defTabSz="914395" eaLnBrk="1" hangingPunct="1">
                <a:spcBef>
                  <a:spcPct val="0"/>
                </a:spcBef>
                <a:buNone/>
                <a:defRPr/>
              </a:pPr>
              <a:r>
                <a:rPr kumimoji="1" lang="en-US" altLang="ko-KR" sz="2400" b="1" dirty="0" smtClean="0">
                  <a:solidFill>
                    <a:srgbClr val="061B34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- </a:t>
              </a:r>
              <a:r>
                <a:rPr kumimoji="1" lang="ko-KR" altLang="en-US" sz="2400" b="1" dirty="0" smtClean="0">
                  <a:solidFill>
                    <a:srgbClr val="061B34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할인 특약 요약 자료 </a:t>
              </a:r>
              <a:r>
                <a:rPr kumimoji="1" lang="en-US" altLang="ko-KR" sz="2400" b="1" dirty="0" smtClean="0">
                  <a:solidFill>
                    <a:srgbClr val="061B34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: </a:t>
              </a:r>
              <a:r>
                <a:rPr kumimoji="1" lang="ko-KR" altLang="en-US" sz="2400" b="1" dirty="0" smtClean="0">
                  <a:solidFill>
                    <a:srgbClr val="061B34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</a:rPr>
                <a:t>자동차 비교견적 → 좌측     클릭 → 자료실</a:t>
              </a:r>
              <a:endParaRPr kumimoji="1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</a:endParaRPr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0787" y="1684491"/>
              <a:ext cx="360000" cy="351628"/>
            </a:xfrm>
            <a:prstGeom prst="rect">
              <a:avLst/>
            </a:prstGeom>
            <a:ln>
              <a:solidFill>
                <a:schemeClr val="tx1"/>
              </a:solidFill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76030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8" grpId="0"/>
      <p:bldP spid="19" grpId="0"/>
      <p:bldP spid="20" grpId="0"/>
      <p:bldP spid="21" grpId="0"/>
      <p:bldP spid="23" grpId="0"/>
      <p:bldP spid="26" grpId="0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 </a:t>
            </a:r>
            <a:r>
              <a:rPr kumimoji="1" lang="ko-KR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61B34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다이렉트 </a:t>
            </a:r>
            <a:r>
              <a:rPr kumimoji="1" lang="en-US" altLang="ko-KR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vs </a:t>
            </a:r>
            <a:r>
              <a:rPr kumimoji="1" lang="ko-KR" altLang="en-US" sz="2400" b="1" dirty="0" smtClean="0">
                <a:solidFill>
                  <a:srgbClr val="061B34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비교견적</a:t>
            </a:r>
            <a:endParaRPr kumimoji="1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061B34"/>
              </a:solidFill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  <a:cs typeface="+mn-cs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14F5C79E-A8D3-49F6-8577-1F5D96171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454548"/>
              </p:ext>
            </p:extLst>
          </p:nvPr>
        </p:nvGraphicFramePr>
        <p:xfrm>
          <a:off x="341977" y="1190875"/>
          <a:ext cx="9233777" cy="5038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8869">
                  <a:extLst>
                    <a:ext uri="{9D8B030D-6E8A-4147-A177-3AD203B41FA5}">
                      <a16:colId xmlns:a16="http://schemas.microsoft.com/office/drawing/2014/main" val="265221545"/>
                    </a:ext>
                  </a:extLst>
                </a:gridCol>
                <a:gridCol w="3792454">
                  <a:extLst>
                    <a:ext uri="{9D8B030D-6E8A-4147-A177-3AD203B41FA5}">
                      <a16:colId xmlns:a16="http://schemas.microsoft.com/office/drawing/2014/main" val="1042186878"/>
                    </a:ext>
                  </a:extLst>
                </a:gridCol>
                <a:gridCol w="3792454">
                  <a:extLst>
                    <a:ext uri="{9D8B030D-6E8A-4147-A177-3AD203B41FA5}">
                      <a16:colId xmlns:a16="http://schemas.microsoft.com/office/drawing/2014/main" val="3211662360"/>
                    </a:ext>
                  </a:extLst>
                </a:gridCol>
              </a:tblGrid>
              <a:tr h="729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구 분</a:t>
                      </a:r>
                      <a:endParaRPr lang="en-US" altLang="ko-KR" sz="2800" dirty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다이렉트 자동차</a:t>
                      </a:r>
                      <a:endParaRPr lang="en-US" altLang="ko-KR" sz="2800" dirty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A+ </a:t>
                      </a:r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자동차 비교견적</a:t>
                      </a:r>
                      <a:endParaRPr lang="ko-KR" altLang="en-US" sz="2800" dirty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285981"/>
                  </a:ext>
                </a:extLst>
              </a:tr>
              <a:tr h="1436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가 격</a:t>
                      </a:r>
                      <a:endParaRPr lang="en-US" altLang="ko-KR" sz="28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일반 자동차보험에 비해</a:t>
                      </a:r>
                      <a:endParaRPr lang="en-US" altLang="ko-KR" sz="2400" b="1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10 ~ 15% </a:t>
                      </a:r>
                      <a:r>
                        <a:rPr lang="ko-KR" altLang="en-US" sz="2400" b="1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저렴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설계사 수수료</a:t>
                      </a:r>
                      <a:r>
                        <a:rPr lang="ko-KR" altLang="en-US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포함되어</a:t>
                      </a:r>
                      <a:endParaRPr lang="en-US" altLang="ko-KR" sz="2400" b="1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="1" baseline="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가격이 측정 </a:t>
                      </a:r>
                      <a:r>
                        <a:rPr lang="en-US" altLang="ko-KR" sz="2400" b="1" baseline="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338420"/>
                  </a:ext>
                </a:extLst>
              </a:tr>
              <a:tr h="1436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가입 방식</a:t>
                      </a:r>
                      <a:endParaRPr lang="en-US" altLang="ko-KR" sz="28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고객 </a:t>
                      </a:r>
                      <a:r>
                        <a:rPr lang="en-US" altLang="ko-KR" sz="240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'</a:t>
                      </a:r>
                      <a:r>
                        <a:rPr lang="ko-KR" altLang="en-US" sz="240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스스로</a:t>
                      </a:r>
                      <a:r>
                        <a:rPr lang="en-US" altLang="ko-KR" sz="240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'</a:t>
                      </a:r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직접 설계</a:t>
                      </a: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가입</a:t>
                      </a:r>
                      <a:endParaRPr lang="en-US" altLang="ko-KR" sz="2400" dirty="0" smtClean="0">
                        <a:solidFill>
                          <a:schemeClr val="tx1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→ 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담보에 대해 정확히 인지</a:t>
                      </a:r>
                      <a:endParaRPr lang="en-US" altLang="ko-KR" sz="2400" baseline="0" dirty="0" smtClean="0">
                        <a:solidFill>
                          <a:schemeClr val="tx1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못하면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누락 발생 </a:t>
                      </a:r>
                      <a:r>
                        <a:rPr lang="en-US" altLang="ko-KR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전문가</a:t>
                      </a:r>
                      <a:r>
                        <a:rPr lang="en-US" altLang="ko-KR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(TFA)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가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</a:t>
                      </a:r>
                    </a:p>
                    <a:p>
                      <a:pPr algn="ctr" latinLnBrk="1"/>
                      <a:r>
                        <a:rPr lang="ko-KR" altLang="en-US" sz="2400" baseline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고객의 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상황 고려</a:t>
                      </a:r>
                      <a:endParaRPr lang="en-US" altLang="ko-KR" sz="2400" baseline="0" dirty="0" smtClean="0">
                        <a:solidFill>
                          <a:schemeClr val="tx1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맞춤형 지원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가능 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!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380079"/>
                  </a:ext>
                </a:extLst>
              </a:tr>
              <a:tr h="1436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비교 방법</a:t>
                      </a:r>
                      <a:endParaRPr lang="en-US" altLang="ko-KR" sz="28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고객이 </a:t>
                      </a:r>
                      <a:r>
                        <a:rPr lang="ko-KR" altLang="en-US" sz="240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직접 비교</a:t>
                      </a:r>
                      <a:endParaRPr lang="en-US" altLang="ko-KR" sz="2400" dirty="0" smtClean="0">
                        <a:solidFill>
                          <a:srgbClr val="FF0000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(13</a:t>
                      </a:r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개 보험사</a:t>
                      </a: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)</a:t>
                      </a:r>
                      <a:endParaRPr lang="en-US" altLang="ko-KR" sz="2400" dirty="0">
                        <a:solidFill>
                          <a:schemeClr val="tx1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한번에 </a:t>
                      </a: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비교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367812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4F5C79E-A8D3-49F6-8577-1F5D96171DE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7097" y="855594"/>
          <a:ext cx="9233776" cy="51566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75546">
                  <a:extLst>
                    <a:ext uri="{9D8B030D-6E8A-4147-A177-3AD203B41FA5}">
                      <a16:colId xmlns:a16="http://schemas.microsoft.com/office/drawing/2014/main" val="265221545"/>
                    </a:ext>
                  </a:extLst>
                </a:gridCol>
                <a:gridCol w="3579115">
                  <a:extLst>
                    <a:ext uri="{9D8B030D-6E8A-4147-A177-3AD203B41FA5}">
                      <a16:colId xmlns:a16="http://schemas.microsoft.com/office/drawing/2014/main" val="1042186878"/>
                    </a:ext>
                  </a:extLst>
                </a:gridCol>
                <a:gridCol w="3579115">
                  <a:extLst>
                    <a:ext uri="{9D8B030D-6E8A-4147-A177-3AD203B41FA5}">
                      <a16:colId xmlns:a16="http://schemas.microsoft.com/office/drawing/2014/main" val="3211662360"/>
                    </a:ext>
                  </a:extLst>
                </a:gridCol>
              </a:tblGrid>
              <a:tr h="729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구 분</a:t>
                      </a:r>
                      <a:endParaRPr lang="en-US" altLang="ko-KR" sz="2800" dirty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다이렉트 자동차</a:t>
                      </a:r>
                      <a:endParaRPr lang="en-US" altLang="ko-KR" sz="2800" dirty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A+ </a:t>
                      </a:r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자동차 비교견적</a:t>
                      </a:r>
                      <a:endParaRPr lang="ko-KR" altLang="en-US" sz="2800" dirty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9285981"/>
                  </a:ext>
                </a:extLst>
              </a:tr>
              <a:tr h="1436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가 격</a:t>
                      </a:r>
                      <a:endParaRPr lang="en-US" altLang="ko-KR" sz="28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저렴하지만</a:t>
                      </a:r>
                      <a:r>
                        <a:rPr lang="en-US" altLang="ko-KR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사업비가 낮음</a:t>
                      </a:r>
                      <a:endParaRPr lang="en-US" altLang="ko-KR" sz="24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→</a:t>
                      </a:r>
                      <a:r>
                        <a:rPr lang="en-US" altLang="ko-KR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</a:t>
                      </a: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인건비 절감</a:t>
                      </a:r>
                      <a:r>
                        <a:rPr lang="en-US" altLang="ko-KR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보장 </a:t>
                      </a:r>
                      <a:r>
                        <a:rPr lang="ko-KR" altLang="en-US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小</a:t>
                      </a:r>
                      <a:endParaRPr lang="en-US" altLang="ko-KR" sz="2400" b="1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(</a:t>
                      </a:r>
                      <a:r>
                        <a:rPr lang="ko-KR" altLang="en-US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신입</a:t>
                      </a:r>
                      <a:r>
                        <a:rPr lang="en-US" altLang="ko-KR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낮은 연차</a:t>
                      </a:r>
                      <a:r>
                        <a:rPr lang="en-US" altLang="ko-KR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)</a:t>
                      </a:r>
                      <a:endParaRPr lang="ko-KR" altLang="en-US" sz="2400" b="1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적정 사업비</a:t>
                      </a:r>
                      <a:r>
                        <a:rPr lang="ko-KR" altLang="en-US" sz="2400" baseline="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책정</a:t>
                      </a:r>
                      <a:endParaRPr lang="en-US" altLang="ko-KR" sz="24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→</a:t>
                      </a:r>
                      <a:r>
                        <a:rPr lang="en-US" altLang="ko-KR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</a:t>
                      </a: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인건비 보통</a:t>
                      </a:r>
                      <a:r>
                        <a:rPr lang="en-US" altLang="ko-KR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보장 </a:t>
                      </a:r>
                      <a:r>
                        <a:rPr lang="ko-KR" altLang="en-US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大</a:t>
                      </a:r>
                      <a:endParaRPr lang="en-US" altLang="ko-KR" sz="2400" b="1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(</a:t>
                      </a:r>
                      <a:r>
                        <a:rPr lang="ko-KR" altLang="en-US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경력직</a:t>
                      </a:r>
                      <a:r>
                        <a:rPr lang="en-US" altLang="ko-KR" sz="2400" b="1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)</a:t>
                      </a:r>
                      <a:endParaRPr lang="ko-KR" altLang="en-US" sz="2400" b="1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338420"/>
                  </a:ext>
                </a:extLst>
              </a:tr>
              <a:tr h="1436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보험금 지급</a:t>
                      </a:r>
                      <a:endParaRPr lang="en-US" altLang="ko-KR" sz="28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지급 多</a:t>
                      </a:r>
                      <a:r>
                        <a:rPr lang="en-US" altLang="ko-KR" sz="2400" baseline="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baseline="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지급액 大</a:t>
                      </a:r>
                      <a:endParaRPr lang="en-US" altLang="ko-KR" sz="2400" baseline="0" dirty="0" smtClean="0">
                        <a:solidFill>
                          <a:srgbClr val="FF0000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→ </a:t>
                      </a:r>
                      <a:r>
                        <a:rPr lang="ko-KR" altLang="en-US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보험료 할증 </a:t>
                      </a:r>
                      <a:r>
                        <a:rPr lang="en-US" altLang="ko-KR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!</a:t>
                      </a:r>
                      <a:endParaRPr lang="en-US" altLang="ko-KR" sz="2400" baseline="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지급 多</a:t>
                      </a:r>
                      <a:r>
                        <a:rPr lang="en-US" altLang="ko-KR" sz="2400" baseline="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, </a:t>
                      </a:r>
                      <a:r>
                        <a:rPr lang="ko-KR" altLang="en-US" sz="2400" baseline="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지급액 大</a:t>
                      </a:r>
                      <a:endParaRPr lang="en-US" altLang="ko-KR" sz="2400" baseline="0" dirty="0" smtClean="0">
                        <a:solidFill>
                          <a:srgbClr val="FF0000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→ </a:t>
                      </a:r>
                      <a:r>
                        <a:rPr lang="ko-KR" altLang="en-US" sz="2400" baseline="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인사고과 반영</a:t>
                      </a:r>
                      <a:endParaRPr lang="en-US" altLang="ko-KR" sz="2400" baseline="0" dirty="0" smtClean="0">
                        <a:solidFill>
                          <a:srgbClr val="FF0000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※ </a:t>
                      </a:r>
                      <a:r>
                        <a:rPr lang="ko-KR" altLang="en-US" sz="2400" baseline="0" dirty="0" err="1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손해율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고려 지급액을 </a:t>
                      </a:r>
                      <a:endParaRPr lang="en-US" altLang="ko-KR" sz="2400" baseline="0" dirty="0" smtClean="0">
                        <a:solidFill>
                          <a:schemeClr val="tx1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낮게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 </a:t>
                      </a:r>
                      <a:r>
                        <a:rPr lang="ko-KR" altLang="en-US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측정</a:t>
                      </a:r>
                      <a:r>
                        <a:rPr lang="en-US" altLang="ko-KR" sz="2400" baseline="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380079"/>
                  </a:ext>
                </a:extLst>
              </a:tr>
              <a:tr h="14365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비교 방법</a:t>
                      </a:r>
                      <a:endParaRPr lang="en-US" altLang="ko-KR" sz="2800" dirty="0" smtClean="0"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고객이 </a:t>
                      </a:r>
                      <a:r>
                        <a:rPr lang="ko-KR" altLang="en-US" sz="240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직접 비교</a:t>
                      </a:r>
                      <a:endParaRPr lang="en-US" altLang="ko-KR" sz="2400" dirty="0" smtClean="0">
                        <a:solidFill>
                          <a:srgbClr val="FF0000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(13</a:t>
                      </a:r>
                      <a:r>
                        <a:rPr lang="ko-KR" altLang="en-US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개 보험사</a:t>
                      </a:r>
                      <a:r>
                        <a:rPr lang="en-US" altLang="ko-KR" sz="2400" dirty="0" smtClean="0">
                          <a:solidFill>
                            <a:schemeClr val="tx1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)</a:t>
                      </a:r>
                      <a:endParaRPr lang="en-US" altLang="ko-KR" sz="2400" dirty="0">
                        <a:solidFill>
                          <a:schemeClr val="tx1"/>
                        </a:solidFill>
                        <a:latin typeface="경기천년제목 Bold" panose="02020803020101020101" pitchFamily="18" charset="-127"/>
                        <a:ea typeface="경기천년제목 Bold" panose="020208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dirty="0" smtClean="0">
                          <a:solidFill>
                            <a:srgbClr val="FF0000"/>
                          </a:solidFill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한번에 </a:t>
                      </a:r>
                      <a:r>
                        <a:rPr lang="ko-KR" altLang="en-US" sz="2400" dirty="0" smtClean="0">
                          <a:latin typeface="경기천년제목 Bold" panose="02020803020101020101" pitchFamily="18" charset="-127"/>
                          <a:ea typeface="경기천년제목 Bold" panose="02020803020101020101" pitchFamily="18" charset="-127"/>
                        </a:rPr>
                        <a:t>비교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36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510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15">
            <a:extLst>
              <a:ext uri="{FF2B5EF4-FFF2-40B4-BE49-F238E27FC236}">
                <a16:creationId xmlns:a16="http://schemas.microsoft.com/office/drawing/2014/main" id="{64017CEB-F989-CCA9-8E67-569FE3FF0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90" y="373245"/>
            <a:ext cx="9467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395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61A32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■</a:t>
            </a:r>
            <a:r>
              <a:rPr kumimoji="1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rPr>
              <a:t> </a:t>
            </a:r>
            <a:r>
              <a:rPr kumimoji="1" lang="en-US" altLang="ko-KR" sz="2400" b="1" dirty="0" smtClean="0"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Q &amp; A</a:t>
            </a:r>
            <a:endParaRPr kumimoji="1" lang="en-US" altLang="ko-KR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D6149937-D09C-5114-8964-607218CB3744}"/>
              </a:ext>
            </a:extLst>
          </p:cNvPr>
          <p:cNvSpPr txBox="1">
            <a:spLocks/>
          </p:cNvSpPr>
          <p:nvPr/>
        </p:nvSpPr>
        <p:spPr>
          <a:xfrm>
            <a:off x="1034565" y="3074242"/>
            <a:ext cx="7848600" cy="994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나눔스퀘어OTF Bold" panose="020B0600000101010101" pitchFamily="34" charset="-127"/>
                <a:ea typeface="나눔스퀘어OTF Bold" panose="020B0600000101010101" pitchFamily="34" charset="-127"/>
                <a:cs typeface="+mj-cs"/>
              </a:defRPr>
            </a:lvl1pPr>
          </a:lstStyle>
          <a:p>
            <a:r>
              <a:rPr lang="en-US" altLang="ko-KR" sz="6600" dirty="0" smtClean="0">
                <a:solidFill>
                  <a:srgbClr val="00B050"/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rPr>
              <a:t>THANK YOU !</a:t>
            </a:r>
            <a:endParaRPr lang="ko-KR" altLang="en-US" sz="6600" dirty="0">
              <a:solidFill>
                <a:srgbClr val="00B050"/>
              </a:solidFill>
              <a:latin typeface="경기천년제목 Bold" panose="02020803020101020101" pitchFamily="18" charset="-127"/>
              <a:ea typeface="경기천년제목 Bold" panose="020208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8688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[기본]조직육성팀 폰트">
      <a:majorFont>
        <a:latin typeface="G마켓 산스 TTF Bold"/>
        <a:ea typeface="나눔스퀘어라운드OTF ExtraBold"/>
        <a:cs typeface=""/>
      </a:majorFont>
      <a:minorFont>
        <a:latin typeface="경기천년제목 Bold"/>
        <a:ea typeface="a고딕14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87532</TotalTime>
  <Words>1527</Words>
  <Application>Microsoft Office PowerPoint</Application>
  <PresentationFormat>A4 용지(210x297mm)</PresentationFormat>
  <Paragraphs>265</Paragraphs>
  <Slides>32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32</vt:i4>
      </vt:variant>
    </vt:vector>
  </HeadingPairs>
  <TitlesOfParts>
    <vt:vector size="47" baseType="lpstr">
      <vt:lpstr>여기어때 잘난체 2 TTF</vt:lpstr>
      <vt:lpstr>HY견고딕</vt:lpstr>
      <vt:lpstr>a고딕16</vt:lpstr>
      <vt:lpstr>KoPubWorld돋움체 Medium</vt:lpstr>
      <vt:lpstr>나눔스퀘어라운드OTF ExtraBold</vt:lpstr>
      <vt:lpstr>Tahoma</vt:lpstr>
      <vt:lpstr>G마켓 산스 TTF Bold</vt:lpstr>
      <vt:lpstr>맑은 고딕</vt:lpstr>
      <vt:lpstr>경기천년제목 Bold</vt:lpstr>
      <vt:lpstr>a고딕14</vt:lpstr>
      <vt:lpstr>Arial</vt:lpstr>
      <vt:lpstr>4_Office 테마</vt:lpstr>
      <vt:lpstr>2_디자인 사용자 지정</vt:lpstr>
      <vt:lpstr>3_디자인 사용자 지정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2648</cp:revision>
  <cp:lastPrinted>2026-01-14T05:54:54Z</cp:lastPrinted>
  <dcterms:created xsi:type="dcterms:W3CDTF">2022-08-26T04:40:20Z</dcterms:created>
  <dcterms:modified xsi:type="dcterms:W3CDTF">2026-03-27T02:19:20Z</dcterms:modified>
</cp:coreProperties>
</file>